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4" r:id="rId5"/>
    <p:sldId id="267" r:id="rId6"/>
    <p:sldId id="268" r:id="rId7"/>
    <p:sldId id="269" r:id="rId8"/>
    <p:sldId id="270" r:id="rId9"/>
    <p:sldId id="274" r:id="rId10"/>
    <p:sldId id="276" r:id="rId11"/>
    <p:sldId id="277" r:id="rId12"/>
    <p:sldId id="278" r:id="rId13"/>
    <p:sldId id="279" r:id="rId14"/>
    <p:sldId id="271" r:id="rId15"/>
    <p:sldId id="272" r:id="rId16"/>
    <p:sldId id="273" r:id="rId17"/>
    <p:sldId id="275" r:id="rId18"/>
    <p:sldId id="281" r:id="rId19"/>
    <p:sldId id="282" r:id="rId20"/>
    <p:sldId id="283" r:id="rId21"/>
    <p:sldId id="284" r:id="rId22"/>
    <p:sldId id="285" r:id="rId23"/>
    <p:sldId id="286" r:id="rId24"/>
    <p:sldId id="28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6971848-DF4A-4DDB-ADF9-DC85F69D6C51}">
          <p14:sldIdLst>
            <p14:sldId id="256"/>
            <p14:sldId id="257"/>
            <p14:sldId id="263"/>
            <p14:sldId id="264"/>
            <p14:sldId id="267"/>
            <p14:sldId id="268"/>
            <p14:sldId id="269"/>
            <p14:sldId id="270"/>
            <p14:sldId id="274"/>
            <p14:sldId id="276"/>
            <p14:sldId id="277"/>
            <p14:sldId id="278"/>
            <p14:sldId id="279"/>
            <p14:sldId id="271"/>
            <p14:sldId id="272"/>
            <p14:sldId id="273"/>
            <p14:sldId id="275"/>
            <p14:sldId id="281"/>
            <p14:sldId id="282"/>
            <p14:sldId id="283"/>
            <p14:sldId id="284"/>
            <p14:sldId id="285"/>
            <p14:sldId id="286"/>
            <p14:sldId id="280"/>
          </p14:sldIdLst>
        </p14:section>
        <p14:section name="Untitled Section" id="{2DBD04A9-7481-4E53-83B6-A6C4E1B3CFA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57D73-4AF2-432A-8EB9-2572AB556A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3EF304-00D3-4A3D-B461-F7F1D64498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2BA678-B541-4DA5-9564-227B67D8BB11}"/>
              </a:ext>
            </a:extLst>
          </p:cNvPr>
          <p:cNvSpPr>
            <a:spLocks noGrp="1"/>
          </p:cNvSpPr>
          <p:nvPr>
            <p:ph type="dt" sz="half" idx="10"/>
          </p:nvPr>
        </p:nvSpPr>
        <p:spPr/>
        <p:txBody>
          <a:bodyPr/>
          <a:lstStyle/>
          <a:p>
            <a:fld id="{C196AB5D-2BCC-4046-9C64-AFB802449127}" type="datetimeFigureOut">
              <a:rPr lang="en-US" smtClean="0"/>
              <a:t>2/24/2026</a:t>
            </a:fld>
            <a:endParaRPr lang="en-US"/>
          </a:p>
        </p:txBody>
      </p:sp>
      <p:sp>
        <p:nvSpPr>
          <p:cNvPr id="5" name="Footer Placeholder 4">
            <a:extLst>
              <a:ext uri="{FF2B5EF4-FFF2-40B4-BE49-F238E27FC236}">
                <a16:creationId xmlns:a16="http://schemas.microsoft.com/office/drawing/2014/main" id="{D33FFAF0-1BBB-4DFA-97F5-89B13D28D1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CD20EE-BFB8-4FA1-9607-267895668E4C}"/>
              </a:ext>
            </a:extLst>
          </p:cNvPr>
          <p:cNvSpPr>
            <a:spLocks noGrp="1"/>
          </p:cNvSpPr>
          <p:nvPr>
            <p:ph type="sldNum" sz="quarter" idx="12"/>
          </p:nvPr>
        </p:nvSpPr>
        <p:spPr/>
        <p:txBody>
          <a:bodyPr/>
          <a:lstStyle/>
          <a:p>
            <a:fld id="{1EE4EB22-BAC3-4678-A26B-CF931609BA7E}" type="slidenum">
              <a:rPr lang="en-US" smtClean="0"/>
              <a:t>‹#›</a:t>
            </a:fld>
            <a:endParaRPr lang="en-US"/>
          </a:p>
        </p:txBody>
      </p:sp>
    </p:spTree>
    <p:extLst>
      <p:ext uri="{BB962C8B-B14F-4D97-AF65-F5344CB8AC3E}">
        <p14:creationId xmlns:p14="http://schemas.microsoft.com/office/powerpoint/2010/main" val="2096901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24DBA-60BC-4F33-B202-46D4782FF8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568741-3333-4105-A334-90F8E939EC1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5A86E3-C6EC-4838-8403-AF9F87641776}"/>
              </a:ext>
            </a:extLst>
          </p:cNvPr>
          <p:cNvSpPr>
            <a:spLocks noGrp="1"/>
          </p:cNvSpPr>
          <p:nvPr>
            <p:ph type="dt" sz="half" idx="10"/>
          </p:nvPr>
        </p:nvSpPr>
        <p:spPr/>
        <p:txBody>
          <a:bodyPr/>
          <a:lstStyle/>
          <a:p>
            <a:fld id="{C196AB5D-2BCC-4046-9C64-AFB802449127}" type="datetimeFigureOut">
              <a:rPr lang="en-US" smtClean="0"/>
              <a:t>2/24/2026</a:t>
            </a:fld>
            <a:endParaRPr lang="en-US"/>
          </a:p>
        </p:txBody>
      </p:sp>
      <p:sp>
        <p:nvSpPr>
          <p:cNvPr id="5" name="Footer Placeholder 4">
            <a:extLst>
              <a:ext uri="{FF2B5EF4-FFF2-40B4-BE49-F238E27FC236}">
                <a16:creationId xmlns:a16="http://schemas.microsoft.com/office/drawing/2014/main" id="{22D88B39-C889-492A-84A2-D816371C32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CF73DA-BF30-4384-A226-3A6B4E2B8451}"/>
              </a:ext>
            </a:extLst>
          </p:cNvPr>
          <p:cNvSpPr>
            <a:spLocks noGrp="1"/>
          </p:cNvSpPr>
          <p:nvPr>
            <p:ph type="sldNum" sz="quarter" idx="12"/>
          </p:nvPr>
        </p:nvSpPr>
        <p:spPr/>
        <p:txBody>
          <a:bodyPr/>
          <a:lstStyle/>
          <a:p>
            <a:fld id="{1EE4EB22-BAC3-4678-A26B-CF931609BA7E}" type="slidenum">
              <a:rPr lang="en-US" smtClean="0"/>
              <a:t>‹#›</a:t>
            </a:fld>
            <a:endParaRPr lang="en-US"/>
          </a:p>
        </p:txBody>
      </p:sp>
    </p:spTree>
    <p:extLst>
      <p:ext uri="{BB962C8B-B14F-4D97-AF65-F5344CB8AC3E}">
        <p14:creationId xmlns:p14="http://schemas.microsoft.com/office/powerpoint/2010/main" val="2703394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6B005-28FD-4DC4-A132-1874D6340B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2165357-FB3C-4A46-9379-19A630161A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632B142-9EC5-4850-8776-5A71ED5EBFFB}"/>
              </a:ext>
            </a:extLst>
          </p:cNvPr>
          <p:cNvSpPr>
            <a:spLocks noGrp="1"/>
          </p:cNvSpPr>
          <p:nvPr>
            <p:ph type="dt" sz="half" idx="10"/>
          </p:nvPr>
        </p:nvSpPr>
        <p:spPr/>
        <p:txBody>
          <a:bodyPr/>
          <a:lstStyle/>
          <a:p>
            <a:fld id="{C196AB5D-2BCC-4046-9C64-AFB802449127}" type="datetimeFigureOut">
              <a:rPr lang="en-US" smtClean="0"/>
              <a:t>2/24/2026</a:t>
            </a:fld>
            <a:endParaRPr lang="en-US"/>
          </a:p>
        </p:txBody>
      </p:sp>
      <p:sp>
        <p:nvSpPr>
          <p:cNvPr id="5" name="Footer Placeholder 4">
            <a:extLst>
              <a:ext uri="{FF2B5EF4-FFF2-40B4-BE49-F238E27FC236}">
                <a16:creationId xmlns:a16="http://schemas.microsoft.com/office/drawing/2014/main" id="{1291BB09-2F4B-4E91-96BB-53D5267E29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975E45-7597-4D34-976F-7F488BC36AF4}"/>
              </a:ext>
            </a:extLst>
          </p:cNvPr>
          <p:cNvSpPr>
            <a:spLocks noGrp="1"/>
          </p:cNvSpPr>
          <p:nvPr>
            <p:ph type="sldNum" sz="quarter" idx="12"/>
          </p:nvPr>
        </p:nvSpPr>
        <p:spPr/>
        <p:txBody>
          <a:bodyPr/>
          <a:lstStyle/>
          <a:p>
            <a:fld id="{1EE4EB22-BAC3-4678-A26B-CF931609BA7E}" type="slidenum">
              <a:rPr lang="en-US" smtClean="0"/>
              <a:t>‹#›</a:t>
            </a:fld>
            <a:endParaRPr lang="en-US"/>
          </a:p>
        </p:txBody>
      </p:sp>
    </p:spTree>
    <p:extLst>
      <p:ext uri="{BB962C8B-B14F-4D97-AF65-F5344CB8AC3E}">
        <p14:creationId xmlns:p14="http://schemas.microsoft.com/office/powerpoint/2010/main" val="2204104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CA339-3F25-4FA9-85D7-8E3E7A3D1D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77ADF9-D2D2-4810-9291-5BD39FEF0CE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C8AFAD-6FF8-4449-BC62-9F5C1AE2511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7B803E-AEC2-4EA9-8A43-2138C6BCA964}"/>
              </a:ext>
            </a:extLst>
          </p:cNvPr>
          <p:cNvSpPr>
            <a:spLocks noGrp="1"/>
          </p:cNvSpPr>
          <p:nvPr>
            <p:ph type="dt" sz="half" idx="10"/>
          </p:nvPr>
        </p:nvSpPr>
        <p:spPr/>
        <p:txBody>
          <a:bodyPr/>
          <a:lstStyle/>
          <a:p>
            <a:fld id="{C196AB5D-2BCC-4046-9C64-AFB802449127}" type="datetimeFigureOut">
              <a:rPr lang="en-US" smtClean="0"/>
              <a:t>2/24/2026</a:t>
            </a:fld>
            <a:endParaRPr lang="en-US"/>
          </a:p>
        </p:txBody>
      </p:sp>
      <p:sp>
        <p:nvSpPr>
          <p:cNvPr id="6" name="Footer Placeholder 5">
            <a:extLst>
              <a:ext uri="{FF2B5EF4-FFF2-40B4-BE49-F238E27FC236}">
                <a16:creationId xmlns:a16="http://schemas.microsoft.com/office/drawing/2014/main" id="{6D4E4CAD-02A9-4F5B-B3D8-172BA3D6B9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7A3C47-9B7C-41F6-A148-2C2DF449637E}"/>
              </a:ext>
            </a:extLst>
          </p:cNvPr>
          <p:cNvSpPr>
            <a:spLocks noGrp="1"/>
          </p:cNvSpPr>
          <p:nvPr>
            <p:ph type="sldNum" sz="quarter" idx="12"/>
          </p:nvPr>
        </p:nvSpPr>
        <p:spPr/>
        <p:txBody>
          <a:bodyPr/>
          <a:lstStyle/>
          <a:p>
            <a:fld id="{1EE4EB22-BAC3-4678-A26B-CF931609BA7E}" type="slidenum">
              <a:rPr lang="en-US" smtClean="0"/>
              <a:t>‹#›</a:t>
            </a:fld>
            <a:endParaRPr lang="en-US"/>
          </a:p>
        </p:txBody>
      </p:sp>
    </p:spTree>
    <p:extLst>
      <p:ext uri="{BB962C8B-B14F-4D97-AF65-F5344CB8AC3E}">
        <p14:creationId xmlns:p14="http://schemas.microsoft.com/office/powerpoint/2010/main" val="4096616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33D49-B2BC-419E-8752-2D63775B4E4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0A582DA-A27C-4908-B1C8-6F43CD60D4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00AD07A-4E0F-4706-93B1-0EAC438E8BF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5FC383-706B-43DB-970B-F256FB8E55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FE0A0C7-38DE-4ACF-B4AF-BEB4ABABEEC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60C5C74-D823-466D-A1F6-A50A0EB30BF3}"/>
              </a:ext>
            </a:extLst>
          </p:cNvPr>
          <p:cNvSpPr>
            <a:spLocks noGrp="1"/>
          </p:cNvSpPr>
          <p:nvPr>
            <p:ph type="dt" sz="half" idx="10"/>
          </p:nvPr>
        </p:nvSpPr>
        <p:spPr/>
        <p:txBody>
          <a:bodyPr/>
          <a:lstStyle/>
          <a:p>
            <a:fld id="{C196AB5D-2BCC-4046-9C64-AFB802449127}" type="datetimeFigureOut">
              <a:rPr lang="en-US" smtClean="0"/>
              <a:t>2/24/2026</a:t>
            </a:fld>
            <a:endParaRPr lang="en-US"/>
          </a:p>
        </p:txBody>
      </p:sp>
      <p:sp>
        <p:nvSpPr>
          <p:cNvPr id="8" name="Footer Placeholder 7">
            <a:extLst>
              <a:ext uri="{FF2B5EF4-FFF2-40B4-BE49-F238E27FC236}">
                <a16:creationId xmlns:a16="http://schemas.microsoft.com/office/drawing/2014/main" id="{4B17AC9F-C8FE-4F8D-9DE1-9202D42CB4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340D3C-4EA5-46A9-BF88-300BC4848AA0}"/>
              </a:ext>
            </a:extLst>
          </p:cNvPr>
          <p:cNvSpPr>
            <a:spLocks noGrp="1"/>
          </p:cNvSpPr>
          <p:nvPr>
            <p:ph type="sldNum" sz="quarter" idx="12"/>
          </p:nvPr>
        </p:nvSpPr>
        <p:spPr/>
        <p:txBody>
          <a:bodyPr/>
          <a:lstStyle/>
          <a:p>
            <a:fld id="{1EE4EB22-BAC3-4678-A26B-CF931609BA7E}" type="slidenum">
              <a:rPr lang="en-US" smtClean="0"/>
              <a:t>‹#›</a:t>
            </a:fld>
            <a:endParaRPr lang="en-US"/>
          </a:p>
        </p:txBody>
      </p:sp>
    </p:spTree>
    <p:extLst>
      <p:ext uri="{BB962C8B-B14F-4D97-AF65-F5344CB8AC3E}">
        <p14:creationId xmlns:p14="http://schemas.microsoft.com/office/powerpoint/2010/main" val="11704981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4C13F-C406-423B-9BC1-8A0CE958B5E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6248A44-32B3-4E08-A7B3-E7B7E414E660}"/>
              </a:ext>
            </a:extLst>
          </p:cNvPr>
          <p:cNvSpPr>
            <a:spLocks noGrp="1"/>
          </p:cNvSpPr>
          <p:nvPr>
            <p:ph type="dt" sz="half" idx="10"/>
          </p:nvPr>
        </p:nvSpPr>
        <p:spPr/>
        <p:txBody>
          <a:bodyPr/>
          <a:lstStyle/>
          <a:p>
            <a:fld id="{C196AB5D-2BCC-4046-9C64-AFB802449127}" type="datetimeFigureOut">
              <a:rPr lang="en-US" smtClean="0"/>
              <a:t>2/24/2026</a:t>
            </a:fld>
            <a:endParaRPr lang="en-US"/>
          </a:p>
        </p:txBody>
      </p:sp>
      <p:sp>
        <p:nvSpPr>
          <p:cNvPr id="4" name="Footer Placeholder 3">
            <a:extLst>
              <a:ext uri="{FF2B5EF4-FFF2-40B4-BE49-F238E27FC236}">
                <a16:creationId xmlns:a16="http://schemas.microsoft.com/office/drawing/2014/main" id="{BEB07A80-5842-48CF-B96A-70C303205B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E9974BB-7E1A-4E68-8DD7-51CD8B535776}"/>
              </a:ext>
            </a:extLst>
          </p:cNvPr>
          <p:cNvSpPr>
            <a:spLocks noGrp="1"/>
          </p:cNvSpPr>
          <p:nvPr>
            <p:ph type="sldNum" sz="quarter" idx="12"/>
          </p:nvPr>
        </p:nvSpPr>
        <p:spPr/>
        <p:txBody>
          <a:bodyPr/>
          <a:lstStyle/>
          <a:p>
            <a:fld id="{1EE4EB22-BAC3-4678-A26B-CF931609BA7E}" type="slidenum">
              <a:rPr lang="en-US" smtClean="0"/>
              <a:t>‹#›</a:t>
            </a:fld>
            <a:endParaRPr lang="en-US"/>
          </a:p>
        </p:txBody>
      </p:sp>
    </p:spTree>
    <p:extLst>
      <p:ext uri="{BB962C8B-B14F-4D97-AF65-F5344CB8AC3E}">
        <p14:creationId xmlns:p14="http://schemas.microsoft.com/office/powerpoint/2010/main" val="2043829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977E96-0341-41B0-B9D6-82965AF5C787}"/>
              </a:ext>
            </a:extLst>
          </p:cNvPr>
          <p:cNvSpPr>
            <a:spLocks noGrp="1"/>
          </p:cNvSpPr>
          <p:nvPr>
            <p:ph type="dt" sz="half" idx="10"/>
          </p:nvPr>
        </p:nvSpPr>
        <p:spPr/>
        <p:txBody>
          <a:bodyPr/>
          <a:lstStyle/>
          <a:p>
            <a:fld id="{C196AB5D-2BCC-4046-9C64-AFB802449127}" type="datetimeFigureOut">
              <a:rPr lang="en-US" smtClean="0"/>
              <a:t>2/24/2026</a:t>
            </a:fld>
            <a:endParaRPr lang="en-US"/>
          </a:p>
        </p:txBody>
      </p:sp>
      <p:sp>
        <p:nvSpPr>
          <p:cNvPr id="3" name="Footer Placeholder 2">
            <a:extLst>
              <a:ext uri="{FF2B5EF4-FFF2-40B4-BE49-F238E27FC236}">
                <a16:creationId xmlns:a16="http://schemas.microsoft.com/office/drawing/2014/main" id="{7AB63E4B-44CD-40E5-9A8D-542B6BA7F2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0ABB2B1-DCC6-4A21-A347-1C0237DB4095}"/>
              </a:ext>
            </a:extLst>
          </p:cNvPr>
          <p:cNvSpPr>
            <a:spLocks noGrp="1"/>
          </p:cNvSpPr>
          <p:nvPr>
            <p:ph type="sldNum" sz="quarter" idx="12"/>
          </p:nvPr>
        </p:nvSpPr>
        <p:spPr/>
        <p:txBody>
          <a:bodyPr/>
          <a:lstStyle/>
          <a:p>
            <a:fld id="{1EE4EB22-BAC3-4678-A26B-CF931609BA7E}" type="slidenum">
              <a:rPr lang="en-US" smtClean="0"/>
              <a:t>‹#›</a:t>
            </a:fld>
            <a:endParaRPr lang="en-US"/>
          </a:p>
        </p:txBody>
      </p:sp>
    </p:spTree>
    <p:extLst>
      <p:ext uri="{BB962C8B-B14F-4D97-AF65-F5344CB8AC3E}">
        <p14:creationId xmlns:p14="http://schemas.microsoft.com/office/powerpoint/2010/main" val="3591766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1F6A7-6675-4B54-9C83-8E11EF7AC9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DF1A95C-54EE-407C-82EF-D17C728AD8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CE9180-D47B-48F9-9907-FB80398D2B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426D195-49CE-413E-B591-CDD4C0492528}"/>
              </a:ext>
            </a:extLst>
          </p:cNvPr>
          <p:cNvSpPr>
            <a:spLocks noGrp="1"/>
          </p:cNvSpPr>
          <p:nvPr>
            <p:ph type="dt" sz="half" idx="10"/>
          </p:nvPr>
        </p:nvSpPr>
        <p:spPr/>
        <p:txBody>
          <a:bodyPr/>
          <a:lstStyle/>
          <a:p>
            <a:fld id="{C196AB5D-2BCC-4046-9C64-AFB802449127}" type="datetimeFigureOut">
              <a:rPr lang="en-US" smtClean="0"/>
              <a:t>2/24/2026</a:t>
            </a:fld>
            <a:endParaRPr lang="en-US"/>
          </a:p>
        </p:txBody>
      </p:sp>
      <p:sp>
        <p:nvSpPr>
          <p:cNvPr id="6" name="Footer Placeholder 5">
            <a:extLst>
              <a:ext uri="{FF2B5EF4-FFF2-40B4-BE49-F238E27FC236}">
                <a16:creationId xmlns:a16="http://schemas.microsoft.com/office/drawing/2014/main" id="{1BF86C91-CE0C-4E15-BB30-CE4A7B8773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90F503-1899-48C1-B7C3-0356B3CE0064}"/>
              </a:ext>
            </a:extLst>
          </p:cNvPr>
          <p:cNvSpPr>
            <a:spLocks noGrp="1"/>
          </p:cNvSpPr>
          <p:nvPr>
            <p:ph type="sldNum" sz="quarter" idx="12"/>
          </p:nvPr>
        </p:nvSpPr>
        <p:spPr/>
        <p:txBody>
          <a:bodyPr/>
          <a:lstStyle/>
          <a:p>
            <a:fld id="{1EE4EB22-BAC3-4678-A26B-CF931609BA7E}" type="slidenum">
              <a:rPr lang="en-US" smtClean="0"/>
              <a:t>‹#›</a:t>
            </a:fld>
            <a:endParaRPr lang="en-US"/>
          </a:p>
        </p:txBody>
      </p:sp>
    </p:spTree>
    <p:extLst>
      <p:ext uri="{BB962C8B-B14F-4D97-AF65-F5344CB8AC3E}">
        <p14:creationId xmlns:p14="http://schemas.microsoft.com/office/powerpoint/2010/main" val="2365129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4C099-901D-46D6-B5BD-D4C0B336DE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C69AB0-FF9D-4D9D-B34C-1AFAD88427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46E6E9-07A1-40EF-BD3F-505DD58542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EBECE8-1FAF-45C2-903F-4B39A210B819}"/>
              </a:ext>
            </a:extLst>
          </p:cNvPr>
          <p:cNvSpPr>
            <a:spLocks noGrp="1"/>
          </p:cNvSpPr>
          <p:nvPr>
            <p:ph type="dt" sz="half" idx="10"/>
          </p:nvPr>
        </p:nvSpPr>
        <p:spPr/>
        <p:txBody>
          <a:bodyPr/>
          <a:lstStyle/>
          <a:p>
            <a:fld id="{C196AB5D-2BCC-4046-9C64-AFB802449127}" type="datetimeFigureOut">
              <a:rPr lang="en-US" smtClean="0"/>
              <a:t>2/24/2026</a:t>
            </a:fld>
            <a:endParaRPr lang="en-US"/>
          </a:p>
        </p:txBody>
      </p:sp>
      <p:sp>
        <p:nvSpPr>
          <p:cNvPr id="6" name="Footer Placeholder 5">
            <a:extLst>
              <a:ext uri="{FF2B5EF4-FFF2-40B4-BE49-F238E27FC236}">
                <a16:creationId xmlns:a16="http://schemas.microsoft.com/office/drawing/2014/main" id="{50CF474B-851C-4663-A1CC-4161999E63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37D350-BCF4-4FE0-84E8-093D8DE4792D}"/>
              </a:ext>
            </a:extLst>
          </p:cNvPr>
          <p:cNvSpPr>
            <a:spLocks noGrp="1"/>
          </p:cNvSpPr>
          <p:nvPr>
            <p:ph type="sldNum" sz="quarter" idx="12"/>
          </p:nvPr>
        </p:nvSpPr>
        <p:spPr/>
        <p:txBody>
          <a:bodyPr/>
          <a:lstStyle/>
          <a:p>
            <a:fld id="{1EE4EB22-BAC3-4678-A26B-CF931609BA7E}" type="slidenum">
              <a:rPr lang="en-US" smtClean="0"/>
              <a:t>‹#›</a:t>
            </a:fld>
            <a:endParaRPr lang="en-US"/>
          </a:p>
        </p:txBody>
      </p:sp>
    </p:spTree>
    <p:extLst>
      <p:ext uri="{BB962C8B-B14F-4D97-AF65-F5344CB8AC3E}">
        <p14:creationId xmlns:p14="http://schemas.microsoft.com/office/powerpoint/2010/main" val="1426093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A0CE8-773C-4FE6-9DAF-E5405B76610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7CFAAB3-B60E-44D3-96D0-B3AD6864E5C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A55BC3-133E-4DCC-AE8B-D5309ABBF3FE}"/>
              </a:ext>
            </a:extLst>
          </p:cNvPr>
          <p:cNvSpPr>
            <a:spLocks noGrp="1"/>
          </p:cNvSpPr>
          <p:nvPr>
            <p:ph type="dt" sz="half" idx="10"/>
          </p:nvPr>
        </p:nvSpPr>
        <p:spPr/>
        <p:txBody>
          <a:bodyPr/>
          <a:lstStyle/>
          <a:p>
            <a:fld id="{C196AB5D-2BCC-4046-9C64-AFB802449127}" type="datetimeFigureOut">
              <a:rPr lang="en-US" smtClean="0"/>
              <a:t>2/24/2026</a:t>
            </a:fld>
            <a:endParaRPr lang="en-US"/>
          </a:p>
        </p:txBody>
      </p:sp>
      <p:sp>
        <p:nvSpPr>
          <p:cNvPr id="5" name="Footer Placeholder 4">
            <a:extLst>
              <a:ext uri="{FF2B5EF4-FFF2-40B4-BE49-F238E27FC236}">
                <a16:creationId xmlns:a16="http://schemas.microsoft.com/office/drawing/2014/main" id="{C4CFE498-E14C-47B5-85AA-1C8007B2D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E21832-09E6-4BE6-A2DB-3D4FD9CAD47F}"/>
              </a:ext>
            </a:extLst>
          </p:cNvPr>
          <p:cNvSpPr>
            <a:spLocks noGrp="1"/>
          </p:cNvSpPr>
          <p:nvPr>
            <p:ph type="sldNum" sz="quarter" idx="12"/>
          </p:nvPr>
        </p:nvSpPr>
        <p:spPr/>
        <p:txBody>
          <a:bodyPr/>
          <a:lstStyle/>
          <a:p>
            <a:fld id="{1EE4EB22-BAC3-4678-A26B-CF931609BA7E}" type="slidenum">
              <a:rPr lang="en-US" smtClean="0"/>
              <a:t>‹#›</a:t>
            </a:fld>
            <a:endParaRPr lang="en-US"/>
          </a:p>
        </p:txBody>
      </p:sp>
    </p:spTree>
    <p:extLst>
      <p:ext uri="{BB962C8B-B14F-4D97-AF65-F5344CB8AC3E}">
        <p14:creationId xmlns:p14="http://schemas.microsoft.com/office/powerpoint/2010/main" val="2853829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4030D8-A6A2-46C2-9680-34D68D3FA9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E25F78F-D81E-42E8-A225-9B7ABA01256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14CF24-CCD1-43D9-86A8-01B06D813519}"/>
              </a:ext>
            </a:extLst>
          </p:cNvPr>
          <p:cNvSpPr>
            <a:spLocks noGrp="1"/>
          </p:cNvSpPr>
          <p:nvPr>
            <p:ph type="dt" sz="half" idx="10"/>
          </p:nvPr>
        </p:nvSpPr>
        <p:spPr/>
        <p:txBody>
          <a:bodyPr/>
          <a:lstStyle/>
          <a:p>
            <a:fld id="{C196AB5D-2BCC-4046-9C64-AFB802449127}" type="datetimeFigureOut">
              <a:rPr lang="en-US" smtClean="0"/>
              <a:t>2/24/2026</a:t>
            </a:fld>
            <a:endParaRPr lang="en-US"/>
          </a:p>
        </p:txBody>
      </p:sp>
      <p:sp>
        <p:nvSpPr>
          <p:cNvPr id="5" name="Footer Placeholder 4">
            <a:extLst>
              <a:ext uri="{FF2B5EF4-FFF2-40B4-BE49-F238E27FC236}">
                <a16:creationId xmlns:a16="http://schemas.microsoft.com/office/drawing/2014/main" id="{829FB3E1-F078-47DC-AB5C-C2C8A9852A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E49BCB-63A9-493A-AB2B-7DB8184FFE9C}"/>
              </a:ext>
            </a:extLst>
          </p:cNvPr>
          <p:cNvSpPr>
            <a:spLocks noGrp="1"/>
          </p:cNvSpPr>
          <p:nvPr>
            <p:ph type="sldNum" sz="quarter" idx="12"/>
          </p:nvPr>
        </p:nvSpPr>
        <p:spPr/>
        <p:txBody>
          <a:bodyPr/>
          <a:lstStyle/>
          <a:p>
            <a:fld id="{1EE4EB22-BAC3-4678-A26B-CF931609BA7E}" type="slidenum">
              <a:rPr lang="en-US" smtClean="0"/>
              <a:t>‹#›</a:t>
            </a:fld>
            <a:endParaRPr lang="en-US"/>
          </a:p>
        </p:txBody>
      </p:sp>
    </p:spTree>
    <p:extLst>
      <p:ext uri="{BB962C8B-B14F-4D97-AF65-F5344CB8AC3E}">
        <p14:creationId xmlns:p14="http://schemas.microsoft.com/office/powerpoint/2010/main" val="42084108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572B25-D98C-493D-A4A2-2A219AEC01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D02D2F-A2BA-4697-ADA5-45C58EB894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7FA2BE-53BC-4039-9682-ADB4471D1B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96AB5D-2BCC-4046-9C64-AFB802449127}" type="datetimeFigureOut">
              <a:rPr lang="en-US" smtClean="0"/>
              <a:t>2/24/2026</a:t>
            </a:fld>
            <a:endParaRPr lang="en-US"/>
          </a:p>
        </p:txBody>
      </p:sp>
      <p:sp>
        <p:nvSpPr>
          <p:cNvPr id="5" name="Footer Placeholder 4">
            <a:extLst>
              <a:ext uri="{FF2B5EF4-FFF2-40B4-BE49-F238E27FC236}">
                <a16:creationId xmlns:a16="http://schemas.microsoft.com/office/drawing/2014/main" id="{73AF96C7-2262-4ECA-9A92-0B5C15370C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211C874-0C0F-488A-8F00-CA0F623D64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E4EB22-BAC3-4678-A26B-CF931609BA7E}" type="slidenum">
              <a:rPr lang="en-US" smtClean="0"/>
              <a:t>‹#›</a:t>
            </a:fld>
            <a:endParaRPr lang="en-US"/>
          </a:p>
        </p:txBody>
      </p:sp>
    </p:spTree>
    <p:extLst>
      <p:ext uri="{BB962C8B-B14F-4D97-AF65-F5344CB8AC3E}">
        <p14:creationId xmlns:p14="http://schemas.microsoft.com/office/powerpoint/2010/main" val="37684681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0979A-3414-4975-BEDE-DAC4ABACC1DB}"/>
              </a:ext>
            </a:extLst>
          </p:cNvPr>
          <p:cNvSpPr>
            <a:spLocks noGrp="1"/>
          </p:cNvSpPr>
          <p:nvPr>
            <p:ph type="ctrTitle"/>
          </p:nvPr>
        </p:nvSpPr>
        <p:spPr/>
        <p:txBody>
          <a:bodyPr/>
          <a:lstStyle/>
          <a:p>
            <a:r>
              <a:rPr lang="en-US" dirty="0"/>
              <a:t>Federated </a:t>
            </a:r>
            <a:r>
              <a:rPr lang="en-US" dirty="0" err="1"/>
              <a:t>leraning</a:t>
            </a:r>
            <a:endParaRPr lang="en-US" dirty="0"/>
          </a:p>
        </p:txBody>
      </p:sp>
      <p:sp>
        <p:nvSpPr>
          <p:cNvPr id="3" name="Subtitle 2">
            <a:extLst>
              <a:ext uri="{FF2B5EF4-FFF2-40B4-BE49-F238E27FC236}">
                <a16:creationId xmlns:a16="http://schemas.microsoft.com/office/drawing/2014/main" id="{E74FD9E9-21B9-476D-A7E1-585392B1441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72578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p:txBody>
          <a:bodyPr>
            <a:normAutofit fontScale="90000"/>
          </a:bodyPr>
          <a:lstStyle/>
          <a:p>
            <a:r>
              <a:rPr lang="en-US" dirty="0"/>
              <a:t>Paper 1 Communication-Efficient Learning of Deep Networks from Decentralized Data (</a:t>
            </a:r>
            <a:r>
              <a:rPr lang="en-US" dirty="0" err="1"/>
              <a:t>fedavg</a:t>
            </a:r>
            <a:r>
              <a:rPr lang="en-US" dirty="0"/>
              <a:t>)</a:t>
            </a:r>
          </a:p>
        </p:txBody>
      </p:sp>
      <p:sp>
        <p:nvSpPr>
          <p:cNvPr id="4" name="Rectangle 1">
            <a:extLst>
              <a:ext uri="{FF2B5EF4-FFF2-40B4-BE49-F238E27FC236}">
                <a16:creationId xmlns:a16="http://schemas.microsoft.com/office/drawing/2014/main" id="{7FF4DE03-9500-4913-B637-19EF0D1A4733}"/>
              </a:ext>
            </a:extLst>
          </p:cNvPr>
          <p:cNvSpPr>
            <a:spLocks noGrp="1" noChangeArrowheads="1"/>
          </p:cNvSpPr>
          <p:nvPr>
            <p:ph idx="1"/>
          </p:nvPr>
        </p:nvSpPr>
        <p:spPr bwMode="auto">
          <a:xfrm>
            <a:off x="838200" y="2847132"/>
            <a:ext cx="1096831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kumimoji="0" lang="en-US" altLang="en-US" sz="1800" b="1" i="0" u="none" strike="noStrike" cap="none" normalizeH="0" baseline="0" dirty="0">
                <a:ln>
                  <a:noFill/>
                </a:ln>
                <a:solidFill>
                  <a:schemeClr val="tx1"/>
                </a:solidFill>
                <a:effectLst/>
                <a:latin typeface="Google Sans"/>
              </a:rPr>
              <a:t>Defining "Federated" Optimization</a:t>
            </a:r>
          </a:p>
          <a:p>
            <a:pPr marL="0" lvl="0" indent="0" eaLnBrk="0" fontAlgn="base" hangingPunct="0">
              <a:lnSpc>
                <a:spcPct val="100000"/>
              </a:lnSpc>
              <a:spcBef>
                <a:spcPct val="0"/>
              </a:spcBef>
              <a:spcAft>
                <a:spcPct val="0"/>
              </a:spcAft>
              <a:buNone/>
            </a:pPr>
            <a:endParaRPr kumimoji="0" lang="en-US" altLang="en-US" sz="1800" b="1" i="0" u="none" strike="noStrike" cap="none" normalizeH="0" baseline="0" dirty="0">
              <a:ln>
                <a:noFill/>
              </a:ln>
              <a:solidFill>
                <a:schemeClr val="tx1"/>
              </a:solidFill>
              <a:effectLst/>
              <a:latin typeface="Google Sans"/>
            </a:endParaRPr>
          </a:p>
          <a:p>
            <a:pPr marL="0" lvl="0" indent="0" eaLnBrk="0" fontAlgn="base" hangingPunct="0">
              <a:lnSpc>
                <a:spcPct val="1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Google Sans Text"/>
              </a:rPr>
              <a:t>Non-IID:</a:t>
            </a:r>
            <a:r>
              <a:rPr kumimoji="0" lang="en-US" altLang="en-US" sz="1800" b="0" i="0" u="none" strike="noStrike" cap="none" normalizeH="0" baseline="0" dirty="0">
                <a:ln>
                  <a:noFill/>
                </a:ln>
                <a:solidFill>
                  <a:schemeClr val="tx1"/>
                </a:solidFill>
                <a:effectLst/>
                <a:latin typeface="Google Sans Text"/>
              </a:rPr>
              <a:t> Local data is not representative of the global distribution (e.g., a user's vocabulary depends on their specific language and style).</a:t>
            </a:r>
          </a:p>
          <a:p>
            <a:pPr marL="0" lvl="0" indent="0" eaLnBrk="0" fontAlgn="base" hangingPunct="0">
              <a:lnSpc>
                <a:spcPct val="1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Google Sans Text"/>
              </a:rPr>
              <a:t>Unbalanced:</a:t>
            </a:r>
            <a:r>
              <a:rPr kumimoji="0" lang="en-US" altLang="en-US" sz="1800" b="0" i="0" u="none" strike="noStrike" cap="none" normalizeH="0" baseline="0" dirty="0">
                <a:ln>
                  <a:noFill/>
                </a:ln>
                <a:solidFill>
                  <a:schemeClr val="tx1"/>
                </a:solidFill>
                <a:effectLst/>
                <a:latin typeface="Google Sans Text"/>
              </a:rPr>
              <a:t> Some users have much more data than others.</a:t>
            </a:r>
          </a:p>
          <a:p>
            <a:pPr marL="0" lvl="0" indent="0" eaLnBrk="0" fontAlgn="base" hangingPunct="0">
              <a:lnSpc>
                <a:spcPct val="1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Google Sans Text"/>
              </a:rPr>
              <a:t>Massively Distributed:</a:t>
            </a:r>
            <a:r>
              <a:rPr kumimoji="0" lang="en-US" altLang="en-US" sz="1800" b="0" i="0" u="none" strike="noStrike" cap="none" normalizeH="0" baseline="0" dirty="0">
                <a:ln>
                  <a:noFill/>
                </a:ln>
                <a:solidFill>
                  <a:schemeClr val="tx1"/>
                </a:solidFill>
                <a:effectLst/>
                <a:latin typeface="Google Sans Text"/>
              </a:rPr>
              <a:t> The number of clients (K) is far larger than the average data points per client.</a:t>
            </a:r>
          </a:p>
          <a:p>
            <a:pPr marL="0" lvl="0" indent="0" eaLnBrk="0" fontAlgn="base" hangingPunct="0">
              <a:lnSpc>
                <a:spcPct val="1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Google Sans Text"/>
              </a:rPr>
              <a:t>Communication Constraints:</a:t>
            </a:r>
            <a:r>
              <a:rPr kumimoji="0" lang="en-US" altLang="en-US" sz="1800" b="0" i="0" u="none" strike="noStrike" cap="none" normalizeH="0" baseline="0" dirty="0">
                <a:ln>
                  <a:noFill/>
                </a:ln>
                <a:solidFill>
                  <a:schemeClr val="tx1"/>
                </a:solidFill>
                <a:effectLst/>
                <a:latin typeface="Google Sans Text"/>
              </a:rPr>
              <a:t> Bandwidth is typically limited to  1MB/s, and devices are often offline.</a:t>
            </a:r>
          </a:p>
          <a:p>
            <a:pPr marL="0" lv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57840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p:txBody>
          <a:bodyPr>
            <a:normAutofit fontScale="90000"/>
          </a:bodyPr>
          <a:lstStyle/>
          <a:p>
            <a:r>
              <a:rPr lang="en-US" dirty="0"/>
              <a:t>Paper 1 Communication-Efficient Learning of Deep Networks from Decentralized Data (</a:t>
            </a:r>
            <a:r>
              <a:rPr lang="en-US" dirty="0" err="1"/>
              <a:t>fedavg</a:t>
            </a:r>
            <a:r>
              <a:rPr lang="en-US" dirty="0"/>
              <a:t>)</a:t>
            </a:r>
          </a:p>
        </p:txBody>
      </p:sp>
      <p:sp>
        <p:nvSpPr>
          <p:cNvPr id="4" name="Rectangle 1">
            <a:extLst>
              <a:ext uri="{FF2B5EF4-FFF2-40B4-BE49-F238E27FC236}">
                <a16:creationId xmlns:a16="http://schemas.microsoft.com/office/drawing/2014/main" id="{7FF4DE03-9500-4913-B637-19EF0D1A4733}"/>
              </a:ext>
            </a:extLst>
          </p:cNvPr>
          <p:cNvSpPr>
            <a:spLocks noGrp="1" noChangeArrowheads="1"/>
          </p:cNvSpPr>
          <p:nvPr>
            <p:ph idx="1"/>
          </p:nvPr>
        </p:nvSpPr>
        <p:spPr bwMode="auto">
          <a:xfrm>
            <a:off x="838201" y="2708632"/>
            <a:ext cx="1051560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kumimoji="0" lang="en-US" altLang="en-US" sz="1800" b="0" i="0" u="none" strike="noStrike" cap="none" normalizeH="0" baseline="0" dirty="0">
                <a:ln>
                  <a:noFill/>
                </a:ln>
                <a:solidFill>
                  <a:schemeClr val="tx1"/>
                </a:solidFill>
                <a:effectLst/>
                <a:latin typeface="Google Sans Text"/>
              </a:rPr>
              <a:t>The paper presents </a:t>
            </a:r>
            <a:r>
              <a:rPr kumimoji="0" lang="en-US" altLang="en-US" sz="1800" b="1" i="0" u="none" strike="noStrike" cap="none" normalizeH="0" baseline="0" dirty="0" err="1">
                <a:ln>
                  <a:noFill/>
                </a:ln>
                <a:solidFill>
                  <a:schemeClr val="tx1"/>
                </a:solidFill>
                <a:effectLst/>
                <a:latin typeface="Google Sans Text"/>
              </a:rPr>
              <a:t>FedAvg</a:t>
            </a:r>
            <a:r>
              <a:rPr kumimoji="0" lang="en-US" altLang="en-US" sz="1800" b="0" i="0" u="none" strike="noStrike" cap="none" normalizeH="0" baseline="0" dirty="0">
                <a:ln>
                  <a:noFill/>
                </a:ln>
                <a:solidFill>
                  <a:schemeClr val="tx1"/>
                </a:solidFill>
                <a:effectLst/>
                <a:latin typeface="Google Sans Text"/>
              </a:rPr>
              <a:t> </a:t>
            </a:r>
          </a:p>
          <a:p>
            <a:pPr marL="0" lvl="0" indent="0" eaLnBrk="0" fontAlgn="base" hangingPunct="0">
              <a:lnSpc>
                <a:spcPct val="100000"/>
              </a:lnSpc>
              <a:spcBef>
                <a:spcPct val="0"/>
              </a:spcBef>
              <a:spcAft>
                <a:spcPct val="0"/>
              </a:spcAft>
              <a:buNone/>
            </a:pPr>
            <a:r>
              <a:rPr kumimoji="0" lang="en-US" altLang="en-US" sz="1800" b="1" i="0" u="none" strike="noStrike" cap="none" normalizeH="0" baseline="0" dirty="0" err="1">
                <a:ln>
                  <a:noFill/>
                </a:ln>
                <a:solidFill>
                  <a:schemeClr val="tx1"/>
                </a:solidFill>
                <a:effectLst/>
                <a:latin typeface="Google Sans Text"/>
              </a:rPr>
              <a:t>FedAvg</a:t>
            </a:r>
            <a:r>
              <a:rPr kumimoji="0" lang="en-US" altLang="en-US" sz="1800" b="1" i="0" u="none" strike="noStrike" cap="none" normalizeH="0" baseline="0" dirty="0">
                <a:ln>
                  <a:noFill/>
                </a:ln>
                <a:solidFill>
                  <a:schemeClr val="tx1"/>
                </a:solidFill>
                <a:effectLst/>
                <a:latin typeface="Google Sans Text"/>
              </a:rPr>
              <a:t> (Proposed):</a:t>
            </a:r>
            <a:r>
              <a:rPr kumimoji="0" lang="en-US" altLang="en-US" sz="1800" b="0" i="0" u="none" strike="noStrike" cap="none" normalizeH="0" baseline="0" dirty="0">
                <a:ln>
                  <a:noFill/>
                </a:ln>
                <a:solidFill>
                  <a:schemeClr val="tx1"/>
                </a:solidFill>
                <a:effectLst/>
                <a:latin typeface="Google Sans Text"/>
              </a:rPr>
              <a:t> Clients perform </a:t>
            </a:r>
            <a:r>
              <a:rPr kumimoji="0" lang="en-US" altLang="en-US" sz="1800" b="1" i="0" u="none" strike="noStrike" cap="none" normalizeH="0" baseline="0" dirty="0">
                <a:ln>
                  <a:noFill/>
                </a:ln>
                <a:solidFill>
                  <a:schemeClr val="tx1"/>
                </a:solidFill>
                <a:effectLst/>
                <a:latin typeface="Google Sans Text"/>
              </a:rPr>
              <a:t>multiple passes</a:t>
            </a:r>
            <a:r>
              <a:rPr kumimoji="0" lang="en-US" altLang="en-US" sz="1800" b="0" i="0" u="none" strike="noStrike" cap="none" normalizeH="0" baseline="0" dirty="0">
                <a:ln>
                  <a:noFill/>
                </a:ln>
                <a:solidFill>
                  <a:schemeClr val="tx1"/>
                </a:solidFill>
                <a:effectLst/>
                <a:latin typeface="Google Sans Text"/>
              </a:rPr>
              <a:t> (E &gt; 1) of local SGD using </a:t>
            </a:r>
            <a:r>
              <a:rPr kumimoji="0" lang="en-US" altLang="en-US" sz="1800" b="1" i="0" u="none" strike="noStrike" cap="none" normalizeH="0" baseline="0" dirty="0">
                <a:ln>
                  <a:noFill/>
                </a:ln>
                <a:solidFill>
                  <a:schemeClr val="tx1"/>
                </a:solidFill>
                <a:effectLst/>
                <a:latin typeface="Google Sans Text"/>
              </a:rPr>
              <a:t>minibatches</a:t>
            </a:r>
            <a:r>
              <a:rPr kumimoji="0" lang="en-US" altLang="en-US" sz="1800" b="0" i="0" u="none" strike="noStrike" cap="none" normalizeH="0" baseline="0" dirty="0">
                <a:ln>
                  <a:noFill/>
                </a:ln>
                <a:solidFill>
                  <a:schemeClr val="tx1"/>
                </a:solidFill>
                <a:effectLst/>
                <a:latin typeface="Google Sans Text"/>
              </a:rPr>
              <a:t> (B) before sending the resulting </a:t>
            </a:r>
            <a:r>
              <a:rPr kumimoji="0" lang="en-US" altLang="en-US" sz="1800" b="0" i="1" u="none" strike="noStrike" cap="none" normalizeH="0" baseline="0" dirty="0">
                <a:ln>
                  <a:noFill/>
                </a:ln>
                <a:solidFill>
                  <a:schemeClr val="tx1"/>
                </a:solidFill>
                <a:effectLst/>
                <a:latin typeface="Google Sans Text"/>
              </a:rPr>
              <a:t>model parameters</a:t>
            </a:r>
            <a:r>
              <a:rPr kumimoji="0" lang="en-US" altLang="en-US" sz="1800" b="0" i="0" u="none" strike="noStrike" cap="none" normalizeH="0" baseline="0" dirty="0">
                <a:ln>
                  <a:noFill/>
                </a:ln>
                <a:solidFill>
                  <a:schemeClr val="tx1"/>
                </a:solidFill>
                <a:effectLst/>
                <a:latin typeface="Google Sans Text"/>
              </a:rPr>
              <a:t> back to the server.</a:t>
            </a:r>
          </a:p>
          <a:p>
            <a:pPr marL="0" lvl="0" indent="0" eaLnBrk="0" fontAlgn="base" hangingPunct="0">
              <a:lnSpc>
                <a:spcPct val="100000"/>
              </a:lnSpc>
              <a:spcBef>
                <a:spcPct val="0"/>
              </a:spcBef>
              <a:spcAft>
                <a:spcPct val="0"/>
              </a:spcAft>
              <a:buNone/>
            </a:pPr>
            <a:endParaRPr kumimoji="0" lang="en-US" altLang="en-US" sz="1800" b="1" i="0" u="none" strike="noStrike" cap="none" normalizeH="0" baseline="0" dirty="0">
              <a:ln>
                <a:noFill/>
              </a:ln>
              <a:solidFill>
                <a:schemeClr val="tx1"/>
              </a:solidFill>
              <a:effectLst/>
              <a:latin typeface="Google Sans"/>
            </a:endParaRPr>
          </a:p>
          <a:p>
            <a:pPr marL="0" lvl="0" indent="0" eaLnBrk="0" fontAlgn="base" hangingPunct="0">
              <a:lnSpc>
                <a:spcPct val="100000"/>
              </a:lnSpc>
              <a:spcBef>
                <a:spcPct val="0"/>
              </a:spcBef>
              <a:spcAft>
                <a:spcPct val="0"/>
              </a:spcAft>
              <a:buNone/>
            </a:pPr>
            <a:r>
              <a:rPr kumimoji="0" lang="en-US" altLang="en-US" sz="1800" b="1" i="0" u="none" strike="noStrike" cap="none" normalizeH="0" baseline="0" dirty="0">
                <a:ln>
                  <a:noFill/>
                </a:ln>
                <a:solidFill>
                  <a:schemeClr val="tx1"/>
                </a:solidFill>
                <a:effectLst/>
                <a:latin typeface="Google Sans"/>
              </a:rPr>
              <a:t>Key Hyperparameters:</a:t>
            </a:r>
          </a:p>
          <a:p>
            <a:pPr marL="0" lvl="0" indent="0" eaLnBrk="0" fontAlgn="base" hangingPunct="0">
              <a:lnSpc>
                <a:spcPct val="100000"/>
              </a:lnSpc>
              <a:spcBef>
                <a:spcPct val="0"/>
              </a:spcBef>
              <a:spcAft>
                <a:spcPct val="0"/>
              </a:spcAft>
              <a:buFontTx/>
              <a:buAutoNum type="arabicPeriod"/>
            </a:pPr>
            <a:r>
              <a:rPr kumimoji="0" lang="en-US" altLang="en-US" sz="1800" b="1" i="0" u="none" strike="noStrike" cap="none" normalizeH="0" baseline="0" dirty="0">
                <a:ln>
                  <a:noFill/>
                </a:ln>
                <a:solidFill>
                  <a:schemeClr val="tx1"/>
                </a:solidFill>
                <a:effectLst/>
                <a:latin typeface="Google Sans Text"/>
              </a:rPr>
              <a:t>C (Client Fraction):</a:t>
            </a:r>
            <a:r>
              <a:rPr kumimoji="0" lang="en-US" altLang="en-US" sz="1800" b="0" i="0" u="none" strike="noStrike" cap="none" normalizeH="0" baseline="0" dirty="0">
                <a:ln>
                  <a:noFill/>
                </a:ln>
                <a:solidFill>
                  <a:schemeClr val="tx1"/>
                </a:solidFill>
                <a:effectLst/>
                <a:latin typeface="Google Sans Text"/>
              </a:rPr>
              <a:t> The percentage of total clients selected to participate in a given round.</a:t>
            </a:r>
          </a:p>
          <a:p>
            <a:pPr marL="0" lvl="0" indent="0" eaLnBrk="0" fontAlgn="base" hangingPunct="0">
              <a:lnSpc>
                <a:spcPct val="100000"/>
              </a:lnSpc>
              <a:spcBef>
                <a:spcPct val="0"/>
              </a:spcBef>
              <a:spcAft>
                <a:spcPct val="0"/>
              </a:spcAft>
              <a:buFontTx/>
              <a:buAutoNum type="arabicPeriod" startAt="2"/>
            </a:pPr>
            <a:r>
              <a:rPr kumimoji="0" lang="en-US" altLang="en-US" sz="1800" b="1" i="0" u="none" strike="noStrike" cap="none" normalizeH="0" baseline="0" dirty="0">
                <a:ln>
                  <a:noFill/>
                </a:ln>
                <a:solidFill>
                  <a:schemeClr val="tx1"/>
                </a:solidFill>
                <a:effectLst/>
                <a:latin typeface="Google Sans Text"/>
              </a:rPr>
              <a:t>E (Local Epochs):</a:t>
            </a:r>
            <a:r>
              <a:rPr kumimoji="0" lang="en-US" altLang="en-US" sz="1800" b="0" i="0" u="none" strike="noStrike" cap="none" normalizeH="0" baseline="0" dirty="0">
                <a:ln>
                  <a:noFill/>
                </a:ln>
                <a:solidFill>
                  <a:schemeClr val="tx1"/>
                </a:solidFill>
                <a:effectLst/>
                <a:latin typeface="Google Sans Text"/>
              </a:rPr>
              <a:t> The number of times each client trains over its local dataset per round.</a:t>
            </a:r>
          </a:p>
          <a:p>
            <a:pPr marL="0" lvl="0" indent="0" eaLnBrk="0" fontAlgn="base" hangingPunct="0">
              <a:lnSpc>
                <a:spcPct val="100000"/>
              </a:lnSpc>
              <a:spcBef>
                <a:spcPct val="0"/>
              </a:spcBef>
              <a:spcAft>
                <a:spcPct val="0"/>
              </a:spcAft>
              <a:buFontTx/>
              <a:buAutoNum type="arabicPeriod" startAt="3"/>
            </a:pPr>
            <a:r>
              <a:rPr kumimoji="0" lang="en-US" altLang="en-US" sz="1800" b="1" i="0" u="none" strike="noStrike" cap="none" normalizeH="0" baseline="0" dirty="0">
                <a:ln>
                  <a:noFill/>
                </a:ln>
                <a:solidFill>
                  <a:schemeClr val="tx1"/>
                </a:solidFill>
                <a:effectLst/>
                <a:latin typeface="Google Sans Text"/>
              </a:rPr>
              <a:t>B (Local Minibatch Size):</a:t>
            </a:r>
            <a:r>
              <a:rPr kumimoji="0" lang="en-US" altLang="en-US" sz="1800" b="0" i="0" u="none" strike="noStrike" cap="none" normalizeH="0" baseline="0" dirty="0">
                <a:ln>
                  <a:noFill/>
                </a:ln>
                <a:solidFill>
                  <a:schemeClr val="tx1"/>
                </a:solidFill>
                <a:effectLst/>
                <a:latin typeface="Google Sans Text"/>
              </a:rPr>
              <a:t> The size of the data chunks used for local updates.</a:t>
            </a:r>
          </a:p>
          <a:p>
            <a:pPr marL="0" lv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63141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p:txBody>
          <a:bodyPr>
            <a:normAutofit fontScale="90000"/>
          </a:bodyPr>
          <a:lstStyle/>
          <a:p>
            <a:r>
              <a:rPr lang="en-US" dirty="0"/>
              <a:t>Paper 1 Communication-Efficient Learning of Deep Networks from Decentralized Data (</a:t>
            </a:r>
            <a:r>
              <a:rPr lang="en-US" dirty="0" err="1"/>
              <a:t>fedavg</a:t>
            </a:r>
            <a:r>
              <a:rPr lang="en-US" dirty="0"/>
              <a:t>)</a:t>
            </a:r>
          </a:p>
        </p:txBody>
      </p:sp>
      <p:sp>
        <p:nvSpPr>
          <p:cNvPr id="4" name="Rectangle 1">
            <a:extLst>
              <a:ext uri="{FF2B5EF4-FFF2-40B4-BE49-F238E27FC236}">
                <a16:creationId xmlns:a16="http://schemas.microsoft.com/office/drawing/2014/main" id="{7FF4DE03-9500-4913-B637-19EF0D1A4733}"/>
              </a:ext>
            </a:extLst>
          </p:cNvPr>
          <p:cNvSpPr>
            <a:spLocks noGrp="1" noChangeArrowheads="1"/>
          </p:cNvSpPr>
          <p:nvPr>
            <p:ph idx="1"/>
          </p:nvPr>
        </p:nvSpPr>
        <p:spPr bwMode="auto">
          <a:xfrm>
            <a:off x="838200" y="2293134"/>
            <a:ext cx="105156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sz="1800" dirty="0"/>
              <a:t>In the authors argue that reducing communication rounds is the most critical goal because </a:t>
            </a:r>
            <a:r>
              <a:rPr lang="en-US" sz="1800" b="1" dirty="0"/>
              <a:t>communication costs are the principal constraint</a:t>
            </a:r>
            <a:r>
              <a:rPr lang="en-US" sz="1800" dirty="0"/>
              <a:t> of the entire system(not sure would this fit for </a:t>
            </a:r>
            <a:r>
              <a:rPr lang="en-US" sz="1800" dirty="0" err="1"/>
              <a:t>tinyml</a:t>
            </a:r>
            <a:r>
              <a:rPr lang="en-US" sz="1800" dirty="0"/>
              <a:t> or not).</a:t>
            </a:r>
          </a:p>
          <a:p>
            <a:pPr marL="0" lv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Google Sans Text"/>
            </a:endParaRPr>
          </a:p>
          <a:p>
            <a:pPr marL="0" lvl="0" indent="0" eaLnBrk="0" fontAlgn="base" hangingPunct="0">
              <a:lnSpc>
                <a:spcPct val="100000"/>
              </a:lnSpc>
              <a:spcBef>
                <a:spcPct val="0"/>
              </a:spcBef>
              <a:spcAft>
                <a:spcPct val="0"/>
              </a:spcAft>
              <a:buNone/>
            </a:pPr>
            <a:r>
              <a:rPr kumimoji="0" lang="en-US" altLang="en-US" sz="1800" b="0" i="0" u="none" strike="noStrike" cap="none" normalizeH="0" baseline="0" dirty="0">
                <a:ln>
                  <a:noFill/>
                </a:ln>
                <a:solidFill>
                  <a:schemeClr val="tx1"/>
                </a:solidFill>
                <a:effectLst/>
                <a:latin typeface="Google Sans Text"/>
              </a:rPr>
              <a:t>The experiments showed that increasing local computation (E and B) significantly reduces communication rounds</a:t>
            </a:r>
            <a:endParaRPr kumimoji="0" lang="en-US" altLang="en-US" sz="1800" b="1" i="0" u="none" strike="noStrike" cap="none" normalizeH="0" baseline="0" dirty="0">
              <a:ln>
                <a:noFill/>
              </a:ln>
              <a:solidFill>
                <a:schemeClr val="tx1"/>
              </a:solidFill>
              <a:effectLst/>
              <a:latin typeface="Google Sans"/>
            </a:endParaRPr>
          </a:p>
          <a:p>
            <a:pPr marL="0" lvl="0" indent="0" eaLnBrk="0" fontAlgn="base" hangingPunct="0">
              <a:lnSpc>
                <a:spcPct val="1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Google Sans Text"/>
              </a:rPr>
              <a:t>Shared Initialization:</a:t>
            </a:r>
            <a:r>
              <a:rPr kumimoji="0" lang="en-US" altLang="en-US" sz="1800" b="0" i="0" u="none" strike="noStrike" cap="none" normalizeH="0" baseline="0" dirty="0">
                <a:ln>
                  <a:noFill/>
                </a:ln>
                <a:solidFill>
                  <a:schemeClr val="tx1"/>
                </a:solidFill>
                <a:effectLst/>
                <a:latin typeface="Google Sans Text"/>
              </a:rPr>
              <a:t> Naive model averaging can fail for non-convex neural networks. The authors found that if all models start from the </a:t>
            </a:r>
            <a:r>
              <a:rPr kumimoji="0" lang="en-US" altLang="en-US" sz="1800" b="1" i="0" u="none" strike="noStrike" cap="none" normalizeH="0" baseline="0" dirty="0">
                <a:ln>
                  <a:noFill/>
                </a:ln>
                <a:solidFill>
                  <a:schemeClr val="tx1"/>
                </a:solidFill>
                <a:effectLst/>
                <a:latin typeface="Google Sans Text"/>
              </a:rPr>
              <a:t>same random seed</a:t>
            </a:r>
            <a:r>
              <a:rPr kumimoji="0" lang="en-US" altLang="en-US" sz="1800" b="0" i="0" u="none" strike="noStrike" cap="none" normalizeH="0" baseline="0" dirty="0">
                <a:ln>
                  <a:noFill/>
                </a:ln>
                <a:solidFill>
                  <a:schemeClr val="tx1"/>
                </a:solidFill>
                <a:effectLst/>
                <a:latin typeface="Google Sans Text"/>
              </a:rPr>
              <a:t>, the averaging works surprisingly well.</a:t>
            </a:r>
          </a:p>
          <a:p>
            <a:pPr marL="0" lvl="0" indent="0" eaLnBrk="0" fontAlgn="base" hangingPunct="0">
              <a:lnSpc>
                <a:spcPct val="1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Google Sans Text"/>
              </a:rPr>
              <a:t>Divergence Risk:</a:t>
            </a:r>
            <a:r>
              <a:rPr kumimoji="0" lang="en-US" altLang="en-US" sz="1800" b="0" i="0" u="none" strike="noStrike" cap="none" normalizeH="0" baseline="0" dirty="0">
                <a:ln>
                  <a:noFill/>
                </a:ln>
                <a:solidFill>
                  <a:schemeClr val="tx1"/>
                </a:solidFill>
                <a:effectLst/>
                <a:latin typeface="Google Sans Text"/>
              </a:rPr>
              <a:t> For very large values of E, the model can plateau or even diverge, suggesting that decaying the amount of local computation over time might be necessary.</a:t>
            </a:r>
          </a:p>
          <a:p>
            <a:pPr marL="0" lv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Google Sans Text"/>
            </a:endParaRPr>
          </a:p>
          <a:p>
            <a:pPr marL="0" lv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5853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p:txBody>
          <a:bodyPr>
            <a:normAutofit/>
          </a:bodyPr>
          <a:lstStyle/>
          <a:p>
            <a:r>
              <a:rPr lang="en-US" dirty="0"/>
              <a:t>Paper2 FEDERATED OPTIMIZATION IN HETEROGENEOUS NETWORKS (</a:t>
            </a:r>
            <a:r>
              <a:rPr lang="en-US" dirty="0" err="1"/>
              <a:t>fedprox</a:t>
            </a:r>
            <a:r>
              <a:rPr lang="en-US" dirty="0"/>
              <a:t>)</a:t>
            </a:r>
          </a:p>
        </p:txBody>
      </p:sp>
      <p:sp>
        <p:nvSpPr>
          <p:cNvPr id="4" name="Rectangle 1">
            <a:extLst>
              <a:ext uri="{FF2B5EF4-FFF2-40B4-BE49-F238E27FC236}">
                <a16:creationId xmlns:a16="http://schemas.microsoft.com/office/drawing/2014/main" id="{7FF4DE03-9500-4913-B637-19EF0D1A4733}"/>
              </a:ext>
            </a:extLst>
          </p:cNvPr>
          <p:cNvSpPr>
            <a:spLocks noGrp="1" noChangeArrowheads="1"/>
          </p:cNvSpPr>
          <p:nvPr>
            <p:ph idx="1"/>
          </p:nvPr>
        </p:nvSpPr>
        <p:spPr bwMode="auto">
          <a:xfrm>
            <a:off x="838200" y="2847132"/>
            <a:ext cx="10515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1800" dirty="0">
                <a:latin typeface="Google Sans Text"/>
              </a:rPr>
              <a:t>The authors identify two primary forms of heterogeneity that plague standard federated learning methods:</a:t>
            </a:r>
            <a:endParaRPr lang="en-US" altLang="en-US" sz="1800" dirty="0"/>
          </a:p>
          <a:p>
            <a:pPr marL="457200" lvl="1" indent="0" eaLnBrk="0" fontAlgn="base" hangingPunct="0">
              <a:lnSpc>
                <a:spcPct val="100000"/>
              </a:lnSpc>
              <a:spcBef>
                <a:spcPct val="0"/>
              </a:spcBef>
              <a:spcAft>
                <a:spcPct val="0"/>
              </a:spcAft>
              <a:buFontTx/>
              <a:buChar char="•"/>
            </a:pPr>
            <a:r>
              <a:rPr lang="en-US" altLang="en-US" sz="1800" b="1" dirty="0">
                <a:latin typeface="Google Sans Text"/>
              </a:rPr>
              <a:t>Systems Heterogeneity</a:t>
            </a:r>
            <a:r>
              <a:rPr lang="en-US" altLang="en-US" sz="1800" dirty="0">
                <a:latin typeface="Google Sans Text"/>
              </a:rPr>
              <a:t>: Participating devices (e.g., smartphones, IoT sensors) have varying hardware, battery levels, and network conditions. This makes it unrealistic to expect every device to perform the same amount of local work ($E$ epochs) within a fixed time window.</a:t>
            </a:r>
          </a:p>
          <a:p>
            <a:pPr marL="457200" lvl="1" indent="0" eaLnBrk="0" fontAlgn="base" hangingPunct="0">
              <a:lnSpc>
                <a:spcPct val="100000"/>
              </a:lnSpc>
              <a:spcBef>
                <a:spcPct val="0"/>
              </a:spcBef>
              <a:spcAft>
                <a:spcPct val="0"/>
              </a:spcAft>
              <a:buFontTx/>
              <a:buChar char="•"/>
            </a:pPr>
            <a:r>
              <a:rPr lang="en-US" altLang="en-US" sz="1800" b="1" dirty="0">
                <a:latin typeface="Google Sans Text"/>
              </a:rPr>
              <a:t>Statistical Heterogeneity</a:t>
            </a:r>
            <a:r>
              <a:rPr lang="en-US" altLang="en-US" sz="1800" dirty="0">
                <a:latin typeface="Google Sans Text"/>
              </a:rPr>
              <a:t>: Data is often distributed in a </a:t>
            </a:r>
            <a:r>
              <a:rPr lang="en-US" altLang="en-US" sz="1800" b="1" dirty="0">
                <a:latin typeface="Google Sans Text"/>
              </a:rPr>
              <a:t>non-identically distributed (Non-IID)</a:t>
            </a:r>
            <a:r>
              <a:rPr lang="en-US" altLang="en-US" sz="1800" dirty="0">
                <a:latin typeface="Google Sans Text"/>
              </a:rPr>
              <a:t> fashion across the network. This can cause local models to drift towards their individual optima rather than a shared global goal, leading to divergence.</a:t>
            </a:r>
          </a:p>
          <a:p>
            <a:pPr marL="0" lv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42350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p:txBody>
          <a:bodyPr>
            <a:normAutofit/>
          </a:bodyPr>
          <a:lstStyle/>
          <a:p>
            <a:r>
              <a:rPr lang="en-US" dirty="0"/>
              <a:t>Paper2 FEDERATED OPTIMIZATION IN HETEROGENEOUS NETWORKS (</a:t>
            </a:r>
            <a:r>
              <a:rPr lang="en-US" dirty="0" err="1"/>
              <a:t>fedprox</a:t>
            </a:r>
            <a:r>
              <a:rPr lang="en-US" dirty="0"/>
              <a:t>)</a:t>
            </a:r>
          </a:p>
        </p:txBody>
      </p:sp>
      <p:sp>
        <p:nvSpPr>
          <p:cNvPr id="4" name="Rectangle 1">
            <a:extLst>
              <a:ext uri="{FF2B5EF4-FFF2-40B4-BE49-F238E27FC236}">
                <a16:creationId xmlns:a16="http://schemas.microsoft.com/office/drawing/2014/main" id="{7FF4DE03-9500-4913-B637-19EF0D1A4733}"/>
              </a:ext>
            </a:extLst>
          </p:cNvPr>
          <p:cNvSpPr>
            <a:spLocks noGrp="1" noChangeArrowheads="1"/>
          </p:cNvSpPr>
          <p:nvPr>
            <p:ph idx="1"/>
          </p:nvPr>
        </p:nvSpPr>
        <p:spPr bwMode="auto">
          <a:xfrm>
            <a:off x="721659" y="1918186"/>
            <a:ext cx="10515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1800" b="1" dirty="0">
                <a:latin typeface="Google Sans"/>
              </a:rPr>
              <a:t>2. The </a:t>
            </a:r>
            <a:r>
              <a:rPr lang="en-US" altLang="en-US" sz="1800" b="1" dirty="0" err="1">
                <a:latin typeface="Google Sans"/>
              </a:rPr>
              <a:t>FedProx</a:t>
            </a:r>
            <a:r>
              <a:rPr lang="en-US" altLang="en-US" sz="1800" b="1" dirty="0">
                <a:latin typeface="Google Sans"/>
              </a:rPr>
              <a:t> Framework</a:t>
            </a:r>
          </a:p>
          <a:p>
            <a:pPr marL="0" lvl="0" indent="0" eaLnBrk="0" fontAlgn="base" hangingPunct="0">
              <a:lnSpc>
                <a:spcPct val="100000"/>
              </a:lnSpc>
              <a:spcBef>
                <a:spcPct val="0"/>
              </a:spcBef>
              <a:spcAft>
                <a:spcPct val="0"/>
              </a:spcAft>
              <a:buNone/>
            </a:pPr>
            <a:r>
              <a:rPr lang="en-US" altLang="en-US" sz="1800" dirty="0" err="1">
                <a:latin typeface="Google Sans Text"/>
              </a:rPr>
              <a:t>FedProx</a:t>
            </a:r>
            <a:r>
              <a:rPr lang="en-US" altLang="en-US" sz="1800" dirty="0">
                <a:latin typeface="Google Sans Text"/>
              </a:rPr>
              <a:t> introduces two modifications to the </a:t>
            </a:r>
            <a:r>
              <a:rPr lang="en-US" altLang="en-US" sz="1800" dirty="0" err="1">
                <a:latin typeface="Google Sans Text"/>
              </a:rPr>
              <a:t>FedAvg</a:t>
            </a:r>
            <a:r>
              <a:rPr lang="en-US" altLang="en-US" sz="1800" dirty="0">
                <a:latin typeface="Google Sans Text"/>
              </a:rPr>
              <a:t> algorithm:</a:t>
            </a:r>
            <a:endParaRPr lang="en-US" altLang="en-US" sz="1800" dirty="0"/>
          </a:p>
          <a:p>
            <a:pPr marL="0" lvl="0" indent="0" eaLnBrk="0" fontAlgn="base" hangingPunct="0">
              <a:lnSpc>
                <a:spcPct val="100000"/>
              </a:lnSpc>
              <a:spcBef>
                <a:spcPct val="0"/>
              </a:spcBef>
              <a:spcAft>
                <a:spcPct val="0"/>
              </a:spcAft>
              <a:buNone/>
            </a:pPr>
            <a:endParaRPr lang="en-US" altLang="en-US" sz="1800" b="1" dirty="0">
              <a:latin typeface="Google Sans"/>
            </a:endParaRPr>
          </a:p>
          <a:p>
            <a:pPr marL="0" lvl="0" indent="0" eaLnBrk="0" fontAlgn="base" hangingPunct="0">
              <a:lnSpc>
                <a:spcPct val="100000"/>
              </a:lnSpc>
              <a:spcBef>
                <a:spcPct val="0"/>
              </a:spcBef>
              <a:spcAft>
                <a:spcPct val="0"/>
              </a:spcAft>
              <a:buNone/>
            </a:pPr>
            <a:r>
              <a:rPr lang="en-US" altLang="en-US" sz="1800" b="1" dirty="0">
                <a:latin typeface="Google Sans"/>
              </a:rPr>
              <a:t>A. Tolerating Partial Work</a:t>
            </a:r>
          </a:p>
          <a:p>
            <a:pPr marL="0" lvl="0" indent="0" eaLnBrk="0" fontAlgn="base" hangingPunct="0">
              <a:lnSpc>
                <a:spcPct val="100000"/>
              </a:lnSpc>
              <a:spcBef>
                <a:spcPct val="0"/>
              </a:spcBef>
              <a:spcAft>
                <a:spcPct val="0"/>
              </a:spcAft>
              <a:buNone/>
            </a:pPr>
            <a:r>
              <a:rPr lang="en-US" altLang="en-US" sz="1800" dirty="0" err="1">
                <a:latin typeface="Google Sans Text"/>
              </a:rPr>
              <a:t>FedProx</a:t>
            </a:r>
            <a:r>
              <a:rPr lang="en-US" altLang="en-US" sz="1800" dirty="0">
                <a:latin typeface="Google Sans Text"/>
              </a:rPr>
              <a:t> </a:t>
            </a:r>
            <a:r>
              <a:rPr lang="en-US" altLang="en-US" sz="1800" b="1" dirty="0">
                <a:latin typeface="Google Sans Text"/>
              </a:rPr>
              <a:t>incorporates partial updates</a:t>
            </a:r>
            <a:r>
              <a:rPr lang="en-US" altLang="en-US" sz="1800" dirty="0">
                <a:latin typeface="Google Sans Text"/>
              </a:rPr>
              <a:t> from these devices.</a:t>
            </a:r>
            <a:endParaRPr lang="en-US" altLang="en-US" sz="1800" dirty="0"/>
          </a:p>
          <a:p>
            <a:pPr marL="0" lvl="0" indent="0" eaLnBrk="0" fontAlgn="base" hangingPunct="0">
              <a:lnSpc>
                <a:spcPct val="100000"/>
              </a:lnSpc>
              <a:spcBef>
                <a:spcPct val="0"/>
              </a:spcBef>
              <a:spcAft>
                <a:spcPct val="0"/>
              </a:spcAft>
              <a:buFontTx/>
              <a:buChar char="•"/>
            </a:pPr>
            <a:r>
              <a:rPr lang="en-US" altLang="en-US" sz="1800" dirty="0">
                <a:latin typeface="Google Sans Text"/>
              </a:rPr>
              <a:t>It formally defines this through </a:t>
            </a:r>
            <a:r>
              <a:rPr lang="el-GR" sz="1800" dirty="0"/>
              <a:t>γ</a:t>
            </a:r>
            <a:r>
              <a:rPr lang="en-US" altLang="en-US" sz="1800" b="1" dirty="0">
                <a:latin typeface="Google Sans Text"/>
              </a:rPr>
              <a:t>-inexactness</a:t>
            </a:r>
            <a:r>
              <a:rPr lang="en-US" altLang="en-US" sz="1800" dirty="0">
                <a:latin typeface="Google Sans Text"/>
              </a:rPr>
              <a:t>, allowing the amount of computation to vary by device and iteration.</a:t>
            </a:r>
          </a:p>
          <a:p>
            <a:pPr marL="0" lvl="0" indent="0" eaLnBrk="0" fontAlgn="base" hangingPunct="0">
              <a:lnSpc>
                <a:spcPct val="100000"/>
              </a:lnSpc>
              <a:spcBef>
                <a:spcPct val="0"/>
              </a:spcBef>
              <a:spcAft>
                <a:spcPct val="0"/>
              </a:spcAft>
              <a:buFontTx/>
              <a:buChar char="•"/>
            </a:pPr>
            <a:endParaRPr lang="en-US" altLang="en-US" sz="1800" dirty="0">
              <a:latin typeface="Google Sans Text"/>
            </a:endParaRPr>
          </a:p>
          <a:p>
            <a:pPr marL="0" lvl="0" indent="0" eaLnBrk="0" fontAlgn="base" hangingPunct="0">
              <a:lnSpc>
                <a:spcPct val="100000"/>
              </a:lnSpc>
              <a:spcBef>
                <a:spcPct val="0"/>
              </a:spcBef>
              <a:spcAft>
                <a:spcPct val="0"/>
              </a:spcAft>
              <a:buNone/>
            </a:pPr>
            <a:endParaRPr lang="en-US" altLang="en-US" sz="1800" b="1" dirty="0">
              <a:latin typeface="Google Sans"/>
            </a:endParaRPr>
          </a:p>
          <a:p>
            <a:pPr marL="0" lvl="0" indent="0" eaLnBrk="0" fontAlgn="base" hangingPunct="0">
              <a:lnSpc>
                <a:spcPct val="100000"/>
              </a:lnSpc>
              <a:spcBef>
                <a:spcPct val="0"/>
              </a:spcBef>
              <a:spcAft>
                <a:spcPct val="0"/>
              </a:spcAft>
              <a:buNone/>
            </a:pPr>
            <a:r>
              <a:rPr lang="en-US" altLang="en-US" sz="1800" b="1" dirty="0">
                <a:latin typeface="Google Sans"/>
              </a:rPr>
              <a:t>B. The Proximal Term</a:t>
            </a:r>
          </a:p>
          <a:p>
            <a:pPr marL="0" lvl="0" indent="0" eaLnBrk="0" fontAlgn="base" hangingPunct="0">
              <a:lnSpc>
                <a:spcPct val="100000"/>
              </a:lnSpc>
              <a:spcBef>
                <a:spcPct val="0"/>
              </a:spcBef>
              <a:spcAft>
                <a:spcPct val="0"/>
              </a:spcAft>
              <a:buNone/>
            </a:pPr>
            <a:r>
              <a:rPr lang="en-US" altLang="en-US" sz="1800" dirty="0" err="1">
                <a:latin typeface="Google Sans Text"/>
              </a:rPr>
              <a:t>FedProx</a:t>
            </a:r>
            <a:r>
              <a:rPr lang="en-US" altLang="en-US" sz="1800" dirty="0">
                <a:latin typeface="Google Sans Text"/>
              </a:rPr>
              <a:t> adds a </a:t>
            </a:r>
            <a:r>
              <a:rPr lang="en-US" altLang="en-US" sz="1800" b="1" dirty="0">
                <a:latin typeface="Google Sans Text"/>
              </a:rPr>
              <a:t>proximal term</a:t>
            </a:r>
            <a:r>
              <a:rPr lang="en-US" altLang="en-US" sz="1800" dirty="0">
                <a:latin typeface="Google Sans Text"/>
              </a:rPr>
              <a:t> to the local objective function: </a:t>
            </a:r>
            <a:endParaRPr lang="en-US" altLang="en-US" sz="1800" dirty="0"/>
          </a:p>
          <a:p>
            <a:pPr marL="0" lvl="0" indent="0" eaLnBrk="0" fontAlgn="base" hangingPunct="0">
              <a:lnSpc>
                <a:spcPct val="100000"/>
              </a:lnSpc>
              <a:spcBef>
                <a:spcPct val="0"/>
              </a:spcBef>
              <a:spcAft>
                <a:spcPct val="0"/>
              </a:spcAft>
              <a:buFontTx/>
              <a:buChar char="•"/>
            </a:pPr>
            <a:r>
              <a:rPr lang="en-US" altLang="en-US" sz="1800" b="1" dirty="0">
                <a:latin typeface="Google Sans Text"/>
              </a:rPr>
              <a:t>Stability</a:t>
            </a:r>
            <a:r>
              <a:rPr lang="en-US" altLang="en-US" sz="1800" dirty="0">
                <a:latin typeface="Google Sans Text"/>
              </a:rPr>
              <a:t>: This term restricts local updates to stay closer to the current global model, preventing local models from "drifting" too far due to Non-IID data.</a:t>
            </a:r>
          </a:p>
          <a:p>
            <a:pPr marL="0" lvl="0" indent="0" eaLnBrk="0" fontAlgn="base" hangingPunct="0">
              <a:lnSpc>
                <a:spcPct val="100000"/>
              </a:lnSpc>
              <a:spcBef>
                <a:spcPct val="0"/>
              </a:spcBef>
              <a:spcAft>
                <a:spcPct val="0"/>
              </a:spcAft>
              <a:buFontTx/>
              <a:buChar char="•"/>
            </a:pPr>
            <a:r>
              <a:rPr lang="en-US" altLang="en-US" sz="1800" b="1" dirty="0">
                <a:latin typeface="Google Sans Text"/>
              </a:rPr>
              <a:t>Solver Agnostic</a:t>
            </a:r>
            <a:r>
              <a:rPr lang="en-US" altLang="en-US" sz="1800" dirty="0">
                <a:latin typeface="Google Sans Text"/>
              </a:rPr>
              <a:t>: This modification allows for the use of any local solver (not just SGD), making the framework highly flexible.</a:t>
            </a:r>
          </a:p>
          <a:p>
            <a:pPr marL="0" lv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DA716035-B6D6-45E3-A3F1-CA2259433A69}"/>
              </a:ext>
            </a:extLst>
          </p:cNvPr>
          <p:cNvPicPr>
            <a:picLocks noChangeAspect="1"/>
          </p:cNvPicPr>
          <p:nvPr/>
        </p:nvPicPr>
        <p:blipFill>
          <a:blip r:embed="rId2"/>
          <a:stretch>
            <a:fillRect/>
          </a:stretch>
        </p:blipFill>
        <p:spPr>
          <a:xfrm>
            <a:off x="6651811" y="4422561"/>
            <a:ext cx="3293372" cy="493053"/>
          </a:xfrm>
          <a:prstGeom prst="rect">
            <a:avLst/>
          </a:prstGeom>
        </p:spPr>
      </p:pic>
    </p:spTree>
    <p:extLst>
      <p:ext uri="{BB962C8B-B14F-4D97-AF65-F5344CB8AC3E}">
        <p14:creationId xmlns:p14="http://schemas.microsoft.com/office/powerpoint/2010/main" val="3920747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p:txBody>
          <a:bodyPr>
            <a:normAutofit/>
          </a:bodyPr>
          <a:lstStyle/>
          <a:p>
            <a:r>
              <a:rPr lang="en-US" dirty="0"/>
              <a:t>Paper2 FEDERATED OPTIMIZATION IN HETEROGENEOUS NETWORKS (</a:t>
            </a:r>
            <a:r>
              <a:rPr lang="en-US" dirty="0" err="1"/>
              <a:t>fedprox</a:t>
            </a:r>
            <a:r>
              <a:rPr lang="en-US" dirty="0"/>
              <a:t>)</a:t>
            </a:r>
          </a:p>
        </p:txBody>
      </p:sp>
      <p:graphicFrame>
        <p:nvGraphicFramePr>
          <p:cNvPr id="8" name="Content Placeholder 7">
            <a:extLst>
              <a:ext uri="{FF2B5EF4-FFF2-40B4-BE49-F238E27FC236}">
                <a16:creationId xmlns:a16="http://schemas.microsoft.com/office/drawing/2014/main" id="{963D2B24-EBE7-4FAA-A323-BD472C0778F9}"/>
              </a:ext>
            </a:extLst>
          </p:cNvPr>
          <p:cNvGraphicFramePr>
            <a:graphicFrameLocks noGrp="1"/>
          </p:cNvGraphicFramePr>
          <p:nvPr>
            <p:ph idx="1"/>
            <p:extLst>
              <p:ext uri="{D42A27DB-BD31-4B8C-83A1-F6EECF244321}">
                <p14:modId xmlns:p14="http://schemas.microsoft.com/office/powerpoint/2010/main" val="1126137327"/>
              </p:ext>
            </p:extLst>
          </p:nvPr>
        </p:nvGraphicFramePr>
        <p:xfrm>
          <a:off x="1837766" y="2178424"/>
          <a:ext cx="8122023" cy="3809998"/>
        </p:xfrm>
        <a:graphic>
          <a:graphicData uri="http://schemas.openxmlformats.org/drawingml/2006/table">
            <a:tbl>
              <a:tblPr/>
              <a:tblGrid>
                <a:gridCol w="2707341">
                  <a:extLst>
                    <a:ext uri="{9D8B030D-6E8A-4147-A177-3AD203B41FA5}">
                      <a16:colId xmlns:a16="http://schemas.microsoft.com/office/drawing/2014/main" val="2000667396"/>
                    </a:ext>
                  </a:extLst>
                </a:gridCol>
                <a:gridCol w="2707341">
                  <a:extLst>
                    <a:ext uri="{9D8B030D-6E8A-4147-A177-3AD203B41FA5}">
                      <a16:colId xmlns:a16="http://schemas.microsoft.com/office/drawing/2014/main" val="808432301"/>
                    </a:ext>
                  </a:extLst>
                </a:gridCol>
                <a:gridCol w="2707341">
                  <a:extLst>
                    <a:ext uri="{9D8B030D-6E8A-4147-A177-3AD203B41FA5}">
                      <a16:colId xmlns:a16="http://schemas.microsoft.com/office/drawing/2014/main" val="1545608219"/>
                    </a:ext>
                  </a:extLst>
                </a:gridCol>
              </a:tblGrid>
              <a:tr h="606138">
                <a:tc>
                  <a:txBody>
                    <a:bodyPr/>
                    <a:lstStyle/>
                    <a:p>
                      <a:pPr rtl="0"/>
                      <a:r>
                        <a:rPr lang="en-US" sz="1800" b="1">
                          <a:solidFill>
                            <a:srgbClr val="1F1F1F"/>
                          </a:solidFill>
                          <a:effectLst/>
                          <a:latin typeface="Google Sans Text"/>
                        </a:rPr>
                        <a:t>Feature</a:t>
                      </a:r>
                      <a:endParaRPr lang="en-US" sz="1800">
                        <a:solidFill>
                          <a:srgbClr val="1F1F1F"/>
                        </a:solidFill>
                        <a:effectLst/>
                        <a:latin typeface="Google Sans Text"/>
                      </a:endParaRPr>
                    </a:p>
                  </a:txBody>
                  <a:tcPr marL="15762" marR="15762" marT="10508" marB="1050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800" b="1">
                          <a:solidFill>
                            <a:srgbClr val="1F1F1F"/>
                          </a:solidFill>
                          <a:effectLst/>
                          <a:latin typeface="Google Sans Text"/>
                        </a:rPr>
                        <a:t>Federated Averaging (FedAvg)</a:t>
                      </a:r>
                      <a:endParaRPr lang="en-US" sz="1800">
                        <a:solidFill>
                          <a:srgbClr val="1F1F1F"/>
                        </a:solidFill>
                        <a:effectLst/>
                        <a:latin typeface="Google Sans Text"/>
                      </a:endParaRPr>
                    </a:p>
                  </a:txBody>
                  <a:tcPr marL="15762" marR="15762" marT="10508" marB="1050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800" b="1">
                          <a:solidFill>
                            <a:srgbClr val="1F1F1F"/>
                          </a:solidFill>
                          <a:effectLst/>
                          <a:latin typeface="Google Sans Text"/>
                        </a:rPr>
                        <a:t>FedProx</a:t>
                      </a:r>
                      <a:endParaRPr lang="en-US" sz="1800">
                        <a:solidFill>
                          <a:srgbClr val="1F1F1F"/>
                        </a:solidFill>
                        <a:effectLst/>
                        <a:latin typeface="Google Sans Text"/>
                      </a:endParaRPr>
                    </a:p>
                  </a:txBody>
                  <a:tcPr marL="15762" marR="15762" marT="10508" marB="1050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266784865"/>
                  </a:ext>
                </a:extLst>
              </a:tr>
              <a:tr h="606138">
                <a:tc>
                  <a:txBody>
                    <a:bodyPr/>
                    <a:lstStyle/>
                    <a:p>
                      <a:pPr rtl="0"/>
                      <a:r>
                        <a:rPr lang="en-US" sz="1800" b="1">
                          <a:solidFill>
                            <a:srgbClr val="1F1F1F"/>
                          </a:solidFill>
                          <a:effectLst/>
                          <a:latin typeface="Google Sans Text"/>
                        </a:rPr>
                        <a:t>Stragglers</a:t>
                      </a:r>
                      <a:endParaRPr lang="en-US" sz="1800">
                        <a:solidFill>
                          <a:srgbClr val="1F1F1F"/>
                        </a:solidFill>
                        <a:effectLst/>
                        <a:latin typeface="Google Sans Text"/>
                      </a:endParaRPr>
                    </a:p>
                  </a:txBody>
                  <a:tcPr marL="15762" marR="15762" marT="10508" marB="1050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800">
                          <a:solidFill>
                            <a:srgbClr val="1F1F1F"/>
                          </a:solidFill>
                          <a:effectLst/>
                          <a:latin typeface="Google Sans Text"/>
                        </a:rPr>
                        <a:t>Often dropped if incomplete.</a:t>
                      </a:r>
                    </a:p>
                  </a:txBody>
                  <a:tcPr marL="15762" marR="15762" marT="10508" marB="1050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800">
                          <a:solidFill>
                            <a:srgbClr val="1F1F1F"/>
                          </a:solidFill>
                          <a:effectLst/>
                          <a:latin typeface="Google Sans Text"/>
                        </a:rPr>
                        <a:t>Incorporates partial work.</a:t>
                      </a:r>
                    </a:p>
                  </a:txBody>
                  <a:tcPr marL="15762" marR="15762" marT="10508" marB="1050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277596392"/>
                  </a:ext>
                </a:extLst>
              </a:tr>
              <a:tr h="606138">
                <a:tc>
                  <a:txBody>
                    <a:bodyPr/>
                    <a:lstStyle/>
                    <a:p>
                      <a:pPr rtl="0"/>
                      <a:r>
                        <a:rPr lang="en-US" sz="1800" b="1">
                          <a:solidFill>
                            <a:srgbClr val="1F1F1F"/>
                          </a:solidFill>
                          <a:effectLst/>
                          <a:latin typeface="Google Sans Text"/>
                        </a:rPr>
                        <a:t>Objective</a:t>
                      </a:r>
                      <a:endParaRPr lang="en-US" sz="1800">
                        <a:solidFill>
                          <a:srgbClr val="1F1F1F"/>
                        </a:solidFill>
                        <a:effectLst/>
                        <a:latin typeface="Google Sans Text"/>
                      </a:endParaRPr>
                    </a:p>
                  </a:txBody>
                  <a:tcPr marL="15762" marR="15762" marT="10508" marB="1050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800" dirty="0">
                          <a:solidFill>
                            <a:srgbClr val="1F1F1F"/>
                          </a:solidFill>
                          <a:effectLst/>
                          <a:latin typeface="Google Sans Text"/>
                        </a:rPr>
                        <a:t>Standard local loss</a:t>
                      </a:r>
                    </a:p>
                  </a:txBody>
                  <a:tcPr marL="15762" marR="15762" marT="10508" marB="1050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800" dirty="0">
                          <a:solidFill>
                            <a:srgbClr val="1F1F1F"/>
                          </a:solidFill>
                          <a:effectLst/>
                          <a:latin typeface="Google Sans Text"/>
                        </a:rPr>
                        <a:t>Loss + Proximal term</a:t>
                      </a:r>
                    </a:p>
                  </a:txBody>
                  <a:tcPr marL="15762" marR="15762" marT="10508" marB="1050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879297160"/>
                  </a:ext>
                </a:extLst>
              </a:tr>
              <a:tr h="995792">
                <a:tc>
                  <a:txBody>
                    <a:bodyPr/>
                    <a:lstStyle/>
                    <a:p>
                      <a:pPr rtl="0"/>
                      <a:r>
                        <a:rPr lang="en-US" sz="1800" b="1">
                          <a:solidFill>
                            <a:srgbClr val="1F1F1F"/>
                          </a:solidFill>
                          <a:effectLst/>
                          <a:latin typeface="Google Sans Text"/>
                        </a:rPr>
                        <a:t>Statistical Robustness</a:t>
                      </a:r>
                      <a:endParaRPr lang="en-US" sz="1800">
                        <a:solidFill>
                          <a:srgbClr val="1F1F1F"/>
                        </a:solidFill>
                        <a:effectLst/>
                        <a:latin typeface="Google Sans Text"/>
                      </a:endParaRPr>
                    </a:p>
                  </a:txBody>
                  <a:tcPr marL="15762" marR="15762" marT="10508" marB="1050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800">
                          <a:solidFill>
                            <a:srgbClr val="1F1F1F"/>
                          </a:solidFill>
                          <a:effectLst/>
                          <a:latin typeface="Google Sans Text"/>
                        </a:rPr>
                        <a:t>Can diverge on Non-IID data.</a:t>
                      </a:r>
                    </a:p>
                  </a:txBody>
                  <a:tcPr marL="15762" marR="15762" marT="10508" marB="1050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800" dirty="0">
                          <a:solidFill>
                            <a:srgbClr val="1F1F1F"/>
                          </a:solidFill>
                          <a:effectLst/>
                          <a:latin typeface="Google Sans Text"/>
                        </a:rPr>
                        <a:t>Stabilized by proximal term.</a:t>
                      </a:r>
                    </a:p>
                    <a:p>
                      <a:pPr rtl="0"/>
                      <a:endParaRPr lang="en-US" sz="1800" dirty="0">
                        <a:solidFill>
                          <a:srgbClr val="1F1F1F"/>
                        </a:solidFill>
                        <a:effectLst/>
                        <a:latin typeface="Google Sans Text"/>
                      </a:endParaRPr>
                    </a:p>
                  </a:txBody>
                  <a:tcPr marL="15762" marR="15762" marT="10508" marB="1050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409656530"/>
                  </a:ext>
                </a:extLst>
              </a:tr>
              <a:tr h="995792">
                <a:tc>
                  <a:txBody>
                    <a:bodyPr/>
                    <a:lstStyle/>
                    <a:p>
                      <a:pPr rtl="0"/>
                      <a:r>
                        <a:rPr lang="en-US" sz="1800" b="1" dirty="0">
                          <a:solidFill>
                            <a:srgbClr val="1F1F1F"/>
                          </a:solidFill>
                          <a:effectLst/>
                          <a:latin typeface="Google Sans Text"/>
                        </a:rPr>
                        <a:t>Theory</a:t>
                      </a:r>
                      <a:endParaRPr lang="en-US" sz="1800" dirty="0">
                        <a:solidFill>
                          <a:srgbClr val="1F1F1F"/>
                        </a:solidFill>
                        <a:effectLst/>
                        <a:latin typeface="Google Sans Text"/>
                      </a:endParaRPr>
                    </a:p>
                  </a:txBody>
                  <a:tcPr marL="15762" marR="15762" marT="10508" marB="1050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800">
                          <a:solidFill>
                            <a:srgbClr val="1F1F1F"/>
                          </a:solidFill>
                          <a:effectLst/>
                          <a:latin typeface="Google Sans Text"/>
                        </a:rPr>
                        <a:t>Difficult to analyze for Non-IID.</a:t>
                      </a:r>
                    </a:p>
                  </a:txBody>
                  <a:tcPr marL="15762" marR="15762" marT="10508" marB="1050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800" dirty="0">
                          <a:solidFill>
                            <a:srgbClr val="1F1F1F"/>
                          </a:solidFill>
                          <a:effectLst/>
                          <a:latin typeface="Google Sans Text"/>
                        </a:rPr>
                        <a:t>Provides convergence guarantees.</a:t>
                      </a:r>
                    </a:p>
                    <a:p>
                      <a:pPr rtl="0"/>
                      <a:endParaRPr lang="en-US" sz="1800" dirty="0">
                        <a:solidFill>
                          <a:srgbClr val="1F1F1F"/>
                        </a:solidFill>
                        <a:effectLst/>
                        <a:latin typeface="Google Sans Text"/>
                      </a:endParaRPr>
                    </a:p>
                  </a:txBody>
                  <a:tcPr marL="15762" marR="15762" marT="10508" marB="1050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416391486"/>
                  </a:ext>
                </a:extLst>
              </a:tr>
            </a:tbl>
          </a:graphicData>
        </a:graphic>
      </p:graphicFrame>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88905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p:txBody>
          <a:bodyPr>
            <a:normAutofit fontScale="90000"/>
          </a:bodyPr>
          <a:lstStyle/>
          <a:p>
            <a:r>
              <a:rPr lang="en-US" dirty="0"/>
              <a:t>Paper3 Tiny Federated Learning for Constrained Sensors: A Systematic Literature Review</a:t>
            </a:r>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Content Placeholder 6">
            <a:extLst>
              <a:ext uri="{FF2B5EF4-FFF2-40B4-BE49-F238E27FC236}">
                <a16:creationId xmlns:a16="http://schemas.microsoft.com/office/drawing/2014/main" id="{4BB542A4-CA8E-4C72-A802-CE5F82C43E78}"/>
              </a:ext>
            </a:extLst>
          </p:cNvPr>
          <p:cNvSpPr>
            <a:spLocks noGrp="1"/>
          </p:cNvSpPr>
          <p:nvPr>
            <p:ph idx="1"/>
          </p:nvPr>
        </p:nvSpPr>
        <p:spPr/>
        <p:txBody>
          <a:bodyPr/>
          <a:lstStyle/>
          <a:p>
            <a:r>
              <a:rPr lang="en-US" dirty="0"/>
              <a:t>This is a survey one thing to notice that one modern effective federated learning technique is  </a:t>
            </a:r>
            <a:r>
              <a:rPr lang="en-US" dirty="0" err="1"/>
              <a:t>FedAdam</a:t>
            </a:r>
            <a:r>
              <a:rPr lang="en-US" dirty="0"/>
              <a:t>, </a:t>
            </a:r>
            <a:r>
              <a:rPr lang="en-US" dirty="0" err="1"/>
              <a:t>FedYogi</a:t>
            </a:r>
            <a:r>
              <a:rPr lang="en-US" dirty="0"/>
              <a:t>, </a:t>
            </a:r>
            <a:r>
              <a:rPr lang="en-US" dirty="0" err="1"/>
              <a:t>FedAdagrad</a:t>
            </a:r>
            <a:r>
              <a:rPr lang="en-US" dirty="0"/>
              <a:t> , maybe search for them</a:t>
            </a:r>
          </a:p>
        </p:txBody>
      </p:sp>
    </p:spTree>
    <p:extLst>
      <p:ext uri="{BB962C8B-B14F-4D97-AF65-F5344CB8AC3E}">
        <p14:creationId xmlns:p14="http://schemas.microsoft.com/office/powerpoint/2010/main" val="4212607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p:txBody>
          <a:bodyPr>
            <a:normAutofit/>
          </a:bodyPr>
          <a:lstStyle/>
          <a:p>
            <a:r>
              <a:rPr lang="en-US" dirty="0"/>
              <a:t>Paper4 TINYFEDTL: FEDERATED TRANSFER LEARNING ON TINY DEVICES</a:t>
            </a:r>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Content Placeholder 6">
            <a:extLst>
              <a:ext uri="{FF2B5EF4-FFF2-40B4-BE49-F238E27FC236}">
                <a16:creationId xmlns:a16="http://schemas.microsoft.com/office/drawing/2014/main" id="{4BB542A4-CA8E-4C72-A802-CE5F82C43E78}"/>
              </a:ext>
            </a:extLst>
          </p:cNvPr>
          <p:cNvSpPr>
            <a:spLocks noGrp="1"/>
          </p:cNvSpPr>
          <p:nvPr>
            <p:ph idx="1"/>
          </p:nvPr>
        </p:nvSpPr>
        <p:spPr/>
        <p:txBody>
          <a:bodyPr>
            <a:normAutofit lnSpcReduction="10000"/>
          </a:bodyPr>
          <a:lstStyle/>
          <a:p>
            <a:r>
              <a:rPr lang="en-US" b="1" dirty="0"/>
              <a:t>1. The Core Problem</a:t>
            </a:r>
          </a:p>
          <a:p>
            <a:r>
              <a:rPr lang="en-US" dirty="0"/>
              <a:t>The paper addresses a significant gap in the rapidly growing field of "</a:t>
            </a:r>
            <a:r>
              <a:rPr lang="en-US" dirty="0" err="1"/>
              <a:t>TinyML</a:t>
            </a:r>
            <a:r>
              <a:rPr lang="en-US" dirty="0"/>
              <a:t>" (deploying machine learning on embedded systems). While edge devices collect vast amounts of valuable data, transmitting this data to central servers raises privacy and security concerns. Furthermore, traditional </a:t>
            </a:r>
            <a:r>
              <a:rPr lang="en-US" dirty="0" err="1"/>
              <a:t>TinyML</a:t>
            </a:r>
            <a:r>
              <a:rPr lang="en-US" dirty="0"/>
              <a:t> frameworks, such as TensorFlow Lite for Microcontrollers, </a:t>
            </a:r>
            <a:r>
              <a:rPr lang="en-US" b="1" dirty="0"/>
              <a:t>only support running pre-trained</a:t>
            </a:r>
            <a:r>
              <a:rPr lang="en-US" dirty="0"/>
              <a:t>, static models and do not allow the models to learn from new data on the device. The challenge is enabling devices to learn locally and collaboratively without violating privacy or exceeding their extreme memory and communication limits.</a:t>
            </a:r>
          </a:p>
        </p:txBody>
      </p:sp>
    </p:spTree>
    <p:extLst>
      <p:ext uri="{BB962C8B-B14F-4D97-AF65-F5344CB8AC3E}">
        <p14:creationId xmlns:p14="http://schemas.microsoft.com/office/powerpoint/2010/main" val="373260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p:txBody>
          <a:bodyPr>
            <a:normAutofit/>
          </a:bodyPr>
          <a:lstStyle/>
          <a:p>
            <a:r>
              <a:rPr lang="en-US" dirty="0"/>
              <a:t>Paper4 TINYFEDTL: FEDERATED TRANSFER LEARNING ON TINY DEVICES</a:t>
            </a:r>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Content Placeholder 6">
            <a:extLst>
              <a:ext uri="{FF2B5EF4-FFF2-40B4-BE49-F238E27FC236}">
                <a16:creationId xmlns:a16="http://schemas.microsoft.com/office/drawing/2014/main" id="{4BB542A4-CA8E-4C72-A802-CE5F82C43E78}"/>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1900" b="1" dirty="0">
                <a:latin typeface="Arial" panose="020B0604020202020204" pitchFamily="34" charset="0"/>
              </a:rPr>
              <a:t>2. The Proposed Solution: </a:t>
            </a:r>
            <a:r>
              <a:rPr lang="en-US" altLang="en-US" sz="1900" b="1" dirty="0" err="1">
                <a:latin typeface="Arial" panose="020B0604020202020204" pitchFamily="34" charset="0"/>
              </a:rPr>
              <a:t>TinyFedTL</a:t>
            </a:r>
            <a:endParaRPr lang="en-US" altLang="en-US" sz="1900" b="1" dirty="0">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sz="1900" dirty="0">
                <a:latin typeface="Arial" panose="020B0604020202020204" pitchFamily="34" charset="0"/>
              </a:rPr>
              <a:t>To solve this, the authors introduce </a:t>
            </a:r>
            <a:r>
              <a:rPr lang="en-US" altLang="en-US" sz="1900" b="1" dirty="0" err="1">
                <a:latin typeface="Arial" panose="020B0604020202020204" pitchFamily="34" charset="0"/>
              </a:rPr>
              <a:t>TinyFedTL</a:t>
            </a:r>
            <a:r>
              <a:rPr lang="en-US" altLang="en-US" sz="1900" dirty="0">
                <a:latin typeface="Arial" panose="020B0604020202020204" pitchFamily="34" charset="0"/>
              </a:rPr>
              <a:t>, the first implementation of Federated Transfer Learning on a resource-constrained microcontroller.</a:t>
            </a:r>
          </a:p>
          <a:p>
            <a:pPr marL="457200" lvl="1" indent="0" eaLnBrk="0" fontAlgn="base" hangingPunct="0">
              <a:lnSpc>
                <a:spcPct val="100000"/>
              </a:lnSpc>
              <a:spcBef>
                <a:spcPct val="0"/>
              </a:spcBef>
              <a:spcAft>
                <a:spcPct val="0"/>
              </a:spcAft>
              <a:buFontTx/>
              <a:buChar char="•"/>
            </a:pPr>
            <a:r>
              <a:rPr lang="en-US" altLang="en-US" sz="1500" b="1" dirty="0">
                <a:latin typeface="Arial" panose="020B0604020202020204" pitchFamily="34" charset="0"/>
              </a:rPr>
              <a:t>Transfer Learning (TL):</a:t>
            </a:r>
            <a:r>
              <a:rPr lang="en-US" altLang="en-US" sz="1500" dirty="0">
                <a:latin typeface="Arial" panose="020B0604020202020204" pitchFamily="34" charset="0"/>
              </a:rPr>
              <a:t> The authors use a pre-trained Convolutional Neural Network (CNN) as a "frozen" feature extractor. They strip away the final fully connected (dense) layer of the network and replace it with a custom C++ layer. Only this final dense layer is trained on the device.</a:t>
            </a:r>
          </a:p>
          <a:p>
            <a:pPr marL="457200" lvl="1" indent="0" eaLnBrk="0" fontAlgn="base" hangingPunct="0">
              <a:lnSpc>
                <a:spcPct val="100000"/>
              </a:lnSpc>
              <a:spcBef>
                <a:spcPct val="0"/>
              </a:spcBef>
              <a:spcAft>
                <a:spcPct val="0"/>
              </a:spcAft>
              <a:buFontTx/>
              <a:buChar char="•"/>
            </a:pPr>
            <a:r>
              <a:rPr lang="en-US" altLang="en-US" sz="1500" b="1" dirty="0">
                <a:latin typeface="Arial" panose="020B0604020202020204" pitchFamily="34" charset="0"/>
              </a:rPr>
              <a:t>Federated Learning (FL):</a:t>
            </a:r>
            <a:r>
              <a:rPr lang="en-US" altLang="en-US" sz="1500" dirty="0">
                <a:latin typeface="Arial" panose="020B0604020202020204" pitchFamily="34" charset="0"/>
              </a:rPr>
              <a:t> They adapt the Federated Averaging (</a:t>
            </a:r>
            <a:r>
              <a:rPr lang="en-US" altLang="en-US" sz="1500" dirty="0" err="1">
                <a:latin typeface="Arial" panose="020B0604020202020204" pitchFamily="34" charset="0"/>
              </a:rPr>
              <a:t>FedAvg</a:t>
            </a:r>
            <a:r>
              <a:rPr lang="en-US" altLang="en-US" sz="1500" dirty="0">
                <a:latin typeface="Arial" panose="020B0604020202020204" pitchFamily="34" charset="0"/>
              </a:rPr>
              <a:t>) algorithm. However, because real-world edge devices might not have a stable connection, the devices continuously train on new data as it arrives (one image at a time)(online training) and only sync their weights when the global server initiates contact.</a:t>
            </a:r>
          </a:p>
          <a:p>
            <a:pPr marL="0" lvl="0" indent="0" eaLnBrk="0" fontAlgn="base" hangingPunct="0">
              <a:lnSpc>
                <a:spcPct val="100000"/>
              </a:lnSpc>
              <a:spcBef>
                <a:spcPct val="0"/>
              </a:spcBef>
              <a:spcAft>
                <a:spcPct val="0"/>
              </a:spcAft>
              <a:buNone/>
            </a:pPr>
            <a:endParaRPr lang="en-US" altLang="en-US" dirty="0">
              <a:latin typeface="Arial" panose="020B0604020202020204" pitchFamily="34" charset="0"/>
            </a:endParaRPr>
          </a:p>
        </p:txBody>
      </p:sp>
    </p:spTree>
    <p:extLst>
      <p:ext uri="{BB962C8B-B14F-4D97-AF65-F5344CB8AC3E}">
        <p14:creationId xmlns:p14="http://schemas.microsoft.com/office/powerpoint/2010/main" val="4220119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p:txBody>
          <a:bodyPr>
            <a:normAutofit/>
          </a:bodyPr>
          <a:lstStyle/>
          <a:p>
            <a:r>
              <a:rPr lang="en-US" dirty="0"/>
              <a:t>Paper4 TINYFEDTL: FEDERATED TRANSFER LEARNING ON TINY DEVICES</a:t>
            </a:r>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Content Placeholder 6">
            <a:extLst>
              <a:ext uri="{FF2B5EF4-FFF2-40B4-BE49-F238E27FC236}">
                <a16:creationId xmlns:a16="http://schemas.microsoft.com/office/drawing/2014/main" id="{4BB542A4-CA8E-4C72-A802-CE5F82C43E78}"/>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1800" b="1" dirty="0">
                <a:latin typeface="Arial" panose="020B0604020202020204" pitchFamily="34" charset="0"/>
              </a:rPr>
              <a:t>3. Hardware and Experimental Setup</a:t>
            </a:r>
          </a:p>
          <a:p>
            <a:pPr marL="0" lvl="0" indent="0" eaLnBrk="0" fontAlgn="base" hangingPunct="0">
              <a:lnSpc>
                <a:spcPct val="100000"/>
              </a:lnSpc>
              <a:spcBef>
                <a:spcPct val="0"/>
              </a:spcBef>
              <a:spcAft>
                <a:spcPct val="0"/>
              </a:spcAft>
              <a:buNone/>
            </a:pPr>
            <a:endParaRPr lang="en-US" altLang="en-US" sz="1800" b="1"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800" b="1" dirty="0">
                <a:latin typeface="Arial" panose="020B0604020202020204" pitchFamily="34" charset="0"/>
              </a:rPr>
              <a:t>Hardware:</a:t>
            </a:r>
            <a:r>
              <a:rPr lang="en-US" altLang="en-US" sz="1800" dirty="0">
                <a:latin typeface="Arial" panose="020B0604020202020204" pitchFamily="34" charset="0"/>
              </a:rPr>
              <a:t> The implementation was deployed on an </a:t>
            </a:r>
            <a:r>
              <a:rPr lang="en-US" altLang="en-US" sz="1800" b="1" dirty="0">
                <a:latin typeface="Arial" panose="020B0604020202020204" pitchFamily="34" charset="0"/>
              </a:rPr>
              <a:t>Arduino Nano 33 BLE Sense</a:t>
            </a:r>
            <a:r>
              <a:rPr lang="en-US" altLang="en-US" sz="1800" dirty="0">
                <a:latin typeface="Arial" panose="020B0604020202020204" pitchFamily="34" charset="0"/>
              </a:rPr>
              <a:t>, a device with only 1MB of Flash memory and 256KB of SRAM. They attached a 5MP </a:t>
            </a:r>
            <a:r>
              <a:rPr lang="en-US" altLang="en-US" sz="1800" dirty="0" err="1">
                <a:latin typeface="Arial" panose="020B0604020202020204" pitchFamily="34" charset="0"/>
              </a:rPr>
              <a:t>Arducam</a:t>
            </a:r>
            <a:r>
              <a:rPr lang="en-US" altLang="en-US" sz="1800" dirty="0">
                <a:latin typeface="Arial" panose="020B0604020202020204" pitchFamily="34" charset="0"/>
              </a:rPr>
              <a:t> to capture real-world images for training. Notably, </a:t>
            </a:r>
            <a:r>
              <a:rPr lang="en-US" altLang="en-US" sz="1800" b="1" dirty="0">
                <a:latin typeface="Arial" panose="020B0604020202020204" pitchFamily="34" charset="0"/>
              </a:rPr>
              <a:t>no SD card or external storage was used</a:t>
            </a:r>
            <a:r>
              <a:rPr lang="en-US" altLang="en-US" sz="1800" dirty="0">
                <a:latin typeface="Arial" panose="020B0604020202020204" pitchFamily="34" charset="0"/>
              </a:rPr>
              <a:t>.</a:t>
            </a:r>
          </a:p>
          <a:p>
            <a:pPr marL="0" lvl="0" indent="0" eaLnBrk="0" fontAlgn="base" hangingPunct="0">
              <a:lnSpc>
                <a:spcPct val="100000"/>
              </a:lnSpc>
              <a:spcBef>
                <a:spcPct val="0"/>
              </a:spcBef>
              <a:spcAft>
                <a:spcPct val="0"/>
              </a:spcAft>
              <a:buFontTx/>
              <a:buChar char="•"/>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800" b="1" dirty="0">
                <a:latin typeface="Arial" panose="020B0604020202020204" pitchFamily="34" charset="0"/>
              </a:rPr>
              <a:t>The Models:</a:t>
            </a:r>
            <a:r>
              <a:rPr lang="en-US" altLang="en-US" sz="1800" dirty="0">
                <a:latin typeface="Arial" panose="020B0604020202020204" pitchFamily="34" charset="0"/>
              </a:rPr>
              <a:t> They tested two versions of MobileNetV2: a larger </a:t>
            </a:r>
            <a:r>
              <a:rPr lang="en-US" altLang="en-US" sz="1800" dirty="0" err="1">
                <a:latin typeface="Arial Unicode MS"/>
              </a:rPr>
              <a:t>tf-mobilenet</a:t>
            </a:r>
            <a:r>
              <a:rPr lang="en-US" altLang="en-US" sz="1800" dirty="0"/>
              <a:t> (trained on ImageNet) and a smaller </a:t>
            </a:r>
            <a:r>
              <a:rPr lang="en-US" altLang="en-US" sz="1800" dirty="0">
                <a:latin typeface="Arial Unicode MS"/>
              </a:rPr>
              <a:t>perf-</a:t>
            </a:r>
            <a:r>
              <a:rPr lang="en-US" altLang="en-US" sz="1800" dirty="0" err="1">
                <a:latin typeface="Arial Unicode MS"/>
              </a:rPr>
              <a:t>mobilenet</a:t>
            </a:r>
            <a:r>
              <a:rPr lang="en-US" altLang="en-US" sz="1800" dirty="0"/>
              <a:t> (trained on Visual Wake Words)</a:t>
            </a:r>
            <a:r>
              <a:rPr lang="en-US" altLang="en-US" sz="1800" dirty="0">
                <a:latin typeface="Arial" panose="020B0604020202020204" pitchFamily="34" charset="0"/>
              </a:rPr>
              <a:t>. Because </a:t>
            </a:r>
            <a:r>
              <a:rPr lang="en-US" altLang="en-US" sz="1800" dirty="0" err="1">
                <a:latin typeface="Arial Unicode MS"/>
              </a:rPr>
              <a:t>tf-mobilenet</a:t>
            </a:r>
            <a:r>
              <a:rPr lang="en-US" altLang="en-US" sz="1800" dirty="0"/>
              <a:t> was too large for the Arduino, they used </a:t>
            </a:r>
            <a:r>
              <a:rPr lang="en-US" altLang="en-US" sz="1800" dirty="0">
                <a:latin typeface="Arial Unicode MS"/>
              </a:rPr>
              <a:t>perf-</a:t>
            </a:r>
            <a:r>
              <a:rPr lang="en-US" altLang="en-US" sz="1800" dirty="0" err="1">
                <a:latin typeface="Arial Unicode MS"/>
              </a:rPr>
              <a:t>mobilenet</a:t>
            </a:r>
            <a:r>
              <a:rPr lang="en-US" altLang="en-US" sz="1800" dirty="0"/>
              <a:t> for physical hardware benchmarking and </a:t>
            </a:r>
            <a:r>
              <a:rPr lang="en-US" altLang="en-US" sz="1800" dirty="0" err="1">
                <a:latin typeface="Arial Unicode MS"/>
              </a:rPr>
              <a:t>tf-mobilenet</a:t>
            </a:r>
            <a:r>
              <a:rPr lang="en-US" altLang="en-US" sz="1800" dirty="0"/>
              <a:t> for simulated accuracy tests</a:t>
            </a:r>
            <a:r>
              <a:rPr lang="en-US" altLang="en-US" sz="1800" dirty="0">
                <a:latin typeface="Arial" panose="020B0604020202020204" pitchFamily="34" charset="0"/>
              </a:rPr>
              <a:t>.</a:t>
            </a:r>
          </a:p>
          <a:p>
            <a:pPr marL="0" lvl="0" indent="0" eaLnBrk="0" fontAlgn="base" hangingPunct="0">
              <a:lnSpc>
                <a:spcPct val="100000"/>
              </a:lnSpc>
              <a:spcBef>
                <a:spcPct val="0"/>
              </a:spcBef>
              <a:spcAft>
                <a:spcPct val="0"/>
              </a:spcAft>
              <a:buFontTx/>
              <a:buChar char="•"/>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800" b="1" dirty="0">
                <a:latin typeface="Arial" panose="020B0604020202020204" pitchFamily="34" charset="0"/>
              </a:rPr>
              <a:t>The Task:</a:t>
            </a:r>
            <a:r>
              <a:rPr lang="en-US" altLang="en-US" sz="1800" dirty="0">
                <a:latin typeface="Arial" panose="020B0604020202020204" pitchFamily="34" charset="0"/>
              </a:rPr>
              <a:t> They converted the CIFAR-10 dataset into binary classification tasks, attempting to transfer knowledge from a "dog vs. no-dog" pre-trained model to a "cat vs. no-cat" identification task</a:t>
            </a:r>
          </a:p>
          <a:p>
            <a:pPr marL="0" lv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p:txBody>
      </p:sp>
    </p:spTree>
    <p:extLst>
      <p:ext uri="{BB962C8B-B14F-4D97-AF65-F5344CB8AC3E}">
        <p14:creationId xmlns:p14="http://schemas.microsoft.com/office/powerpoint/2010/main" val="1918632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p:txBody>
          <a:bodyPr>
            <a:normAutofit/>
          </a:bodyPr>
          <a:lstStyle/>
          <a:p>
            <a:r>
              <a:rPr lang="en-US" dirty="0"/>
              <a:t>Paper4 TINYFEDTL: FEDERATED TRANSFER LEARNING ON TINY DEVICES</a:t>
            </a:r>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Content Placeholder 6">
            <a:extLst>
              <a:ext uri="{FF2B5EF4-FFF2-40B4-BE49-F238E27FC236}">
                <a16:creationId xmlns:a16="http://schemas.microsoft.com/office/drawing/2014/main" id="{4BB542A4-CA8E-4C72-A802-CE5F82C43E78}"/>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1800" b="1" dirty="0">
                <a:latin typeface="Arial" panose="020B0604020202020204" pitchFamily="34" charset="0"/>
              </a:rPr>
              <a:t>3. Hardware and Experimental Setup</a:t>
            </a:r>
          </a:p>
          <a:p>
            <a:pPr marL="0" lvl="0" indent="0" eaLnBrk="0" fontAlgn="base" hangingPunct="0">
              <a:lnSpc>
                <a:spcPct val="100000"/>
              </a:lnSpc>
              <a:spcBef>
                <a:spcPct val="0"/>
              </a:spcBef>
              <a:spcAft>
                <a:spcPct val="0"/>
              </a:spcAft>
              <a:buNone/>
            </a:pPr>
            <a:endParaRPr lang="en-US" altLang="en-US" sz="1800" b="1"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800" b="1" dirty="0">
                <a:latin typeface="Arial" panose="020B0604020202020204" pitchFamily="34" charset="0"/>
              </a:rPr>
              <a:t>Hardware:</a:t>
            </a:r>
            <a:r>
              <a:rPr lang="en-US" altLang="en-US" sz="1800" dirty="0">
                <a:latin typeface="Arial" panose="020B0604020202020204" pitchFamily="34" charset="0"/>
              </a:rPr>
              <a:t> The implementation was deployed on an </a:t>
            </a:r>
            <a:r>
              <a:rPr lang="en-US" altLang="en-US" sz="1800" b="1" dirty="0">
                <a:latin typeface="Arial" panose="020B0604020202020204" pitchFamily="34" charset="0"/>
              </a:rPr>
              <a:t>Arduino Nano 33 BLE Sense</a:t>
            </a:r>
            <a:r>
              <a:rPr lang="en-US" altLang="en-US" sz="1800" dirty="0">
                <a:latin typeface="Arial" panose="020B0604020202020204" pitchFamily="34" charset="0"/>
              </a:rPr>
              <a:t>, a device with only 1MB of Flash memory and 256KB of SRAM. They attached a 5MP </a:t>
            </a:r>
            <a:r>
              <a:rPr lang="en-US" altLang="en-US" sz="1800" dirty="0" err="1">
                <a:latin typeface="Arial" panose="020B0604020202020204" pitchFamily="34" charset="0"/>
              </a:rPr>
              <a:t>Arducam</a:t>
            </a:r>
            <a:r>
              <a:rPr lang="en-US" altLang="en-US" sz="1800" dirty="0">
                <a:latin typeface="Arial" panose="020B0604020202020204" pitchFamily="34" charset="0"/>
              </a:rPr>
              <a:t> to capture real-world images for training. Notably, </a:t>
            </a:r>
            <a:r>
              <a:rPr lang="en-US" altLang="en-US" sz="1800" b="1" dirty="0">
                <a:latin typeface="Arial" panose="020B0604020202020204" pitchFamily="34" charset="0"/>
              </a:rPr>
              <a:t>no SD card or external storage was used</a:t>
            </a:r>
            <a:r>
              <a:rPr lang="en-US" altLang="en-US" sz="1800" dirty="0">
                <a:latin typeface="Arial" panose="020B0604020202020204" pitchFamily="34" charset="0"/>
              </a:rPr>
              <a:t>.</a:t>
            </a:r>
          </a:p>
          <a:p>
            <a:pPr marL="0" lvl="0" indent="0" eaLnBrk="0" fontAlgn="base" hangingPunct="0">
              <a:lnSpc>
                <a:spcPct val="100000"/>
              </a:lnSpc>
              <a:spcBef>
                <a:spcPct val="0"/>
              </a:spcBef>
              <a:spcAft>
                <a:spcPct val="0"/>
              </a:spcAft>
              <a:buFontTx/>
              <a:buChar char="•"/>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800" b="1" dirty="0">
                <a:latin typeface="Arial" panose="020B0604020202020204" pitchFamily="34" charset="0"/>
              </a:rPr>
              <a:t>The Models:</a:t>
            </a:r>
            <a:r>
              <a:rPr lang="en-US" altLang="en-US" sz="1800" dirty="0">
                <a:latin typeface="Arial" panose="020B0604020202020204" pitchFamily="34" charset="0"/>
              </a:rPr>
              <a:t> They tested two versions of MobileNetV2: a larger </a:t>
            </a:r>
            <a:r>
              <a:rPr lang="en-US" altLang="en-US" sz="1800" dirty="0" err="1">
                <a:latin typeface="Arial Unicode MS"/>
              </a:rPr>
              <a:t>tf-mobilenet</a:t>
            </a:r>
            <a:r>
              <a:rPr lang="en-US" altLang="en-US" sz="1800" dirty="0"/>
              <a:t> (trained on ImageNet) and a smaller </a:t>
            </a:r>
            <a:r>
              <a:rPr lang="en-US" altLang="en-US" sz="1800" dirty="0">
                <a:latin typeface="Arial Unicode MS"/>
              </a:rPr>
              <a:t>perf-</a:t>
            </a:r>
            <a:r>
              <a:rPr lang="en-US" altLang="en-US" sz="1800" dirty="0" err="1">
                <a:latin typeface="Arial Unicode MS"/>
              </a:rPr>
              <a:t>mobilenet</a:t>
            </a:r>
            <a:r>
              <a:rPr lang="en-US" altLang="en-US" sz="1800" dirty="0"/>
              <a:t> (trained on Visual Wake Words)</a:t>
            </a:r>
            <a:r>
              <a:rPr lang="en-US" altLang="en-US" sz="1800" dirty="0">
                <a:latin typeface="Arial" panose="020B0604020202020204" pitchFamily="34" charset="0"/>
              </a:rPr>
              <a:t>. Because </a:t>
            </a:r>
            <a:r>
              <a:rPr lang="en-US" altLang="en-US" sz="1800" dirty="0" err="1">
                <a:latin typeface="Arial Unicode MS"/>
              </a:rPr>
              <a:t>tf-mobilenet</a:t>
            </a:r>
            <a:r>
              <a:rPr lang="en-US" altLang="en-US" sz="1800" dirty="0"/>
              <a:t> was too large for the Arduino, they used </a:t>
            </a:r>
            <a:r>
              <a:rPr lang="en-US" altLang="en-US" sz="1800" dirty="0">
                <a:latin typeface="Arial Unicode MS"/>
              </a:rPr>
              <a:t>perf-</a:t>
            </a:r>
            <a:r>
              <a:rPr lang="en-US" altLang="en-US" sz="1800" dirty="0" err="1">
                <a:latin typeface="Arial Unicode MS"/>
              </a:rPr>
              <a:t>mobilenet</a:t>
            </a:r>
            <a:r>
              <a:rPr lang="en-US" altLang="en-US" sz="1800" dirty="0"/>
              <a:t> for physical hardware benchmarking and </a:t>
            </a:r>
            <a:r>
              <a:rPr lang="en-US" altLang="en-US" sz="1800" dirty="0" err="1">
                <a:latin typeface="Arial Unicode MS"/>
              </a:rPr>
              <a:t>tf-mobilenet</a:t>
            </a:r>
            <a:r>
              <a:rPr lang="en-US" altLang="en-US" sz="1800" dirty="0"/>
              <a:t> for simulated accuracy tests</a:t>
            </a:r>
            <a:r>
              <a:rPr lang="en-US" altLang="en-US" sz="1800" dirty="0">
                <a:latin typeface="Arial" panose="020B0604020202020204" pitchFamily="34" charset="0"/>
              </a:rPr>
              <a:t>.</a:t>
            </a:r>
          </a:p>
          <a:p>
            <a:pPr marL="0" lvl="0" indent="0" eaLnBrk="0" fontAlgn="base" hangingPunct="0">
              <a:lnSpc>
                <a:spcPct val="100000"/>
              </a:lnSpc>
              <a:spcBef>
                <a:spcPct val="0"/>
              </a:spcBef>
              <a:spcAft>
                <a:spcPct val="0"/>
              </a:spcAft>
              <a:buFontTx/>
              <a:buChar char="•"/>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800" b="1" dirty="0">
                <a:latin typeface="Arial" panose="020B0604020202020204" pitchFamily="34" charset="0"/>
              </a:rPr>
              <a:t>The Task:</a:t>
            </a:r>
            <a:r>
              <a:rPr lang="en-US" altLang="en-US" sz="1800" dirty="0">
                <a:latin typeface="Arial" panose="020B0604020202020204" pitchFamily="34" charset="0"/>
              </a:rPr>
              <a:t> They converted the CIFAR-10 dataset into binary classification tasks, attempting to transfer knowledge from a "dog vs. no-dog" pre-trained model to a "cat vs. no-cat" identification task</a:t>
            </a:r>
          </a:p>
          <a:p>
            <a:pPr marL="0" lv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p:txBody>
      </p:sp>
    </p:spTree>
    <p:extLst>
      <p:ext uri="{BB962C8B-B14F-4D97-AF65-F5344CB8AC3E}">
        <p14:creationId xmlns:p14="http://schemas.microsoft.com/office/powerpoint/2010/main" val="402299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p:txBody>
          <a:bodyPr>
            <a:normAutofit/>
          </a:bodyPr>
          <a:lstStyle/>
          <a:p>
            <a:r>
              <a:rPr lang="en-US" dirty="0"/>
              <a:t>Paper4 TINYFEDTL: FEDERATED TRANSFER LEARNING ON TINY DEVICES</a:t>
            </a:r>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Content Placeholder 6">
            <a:extLst>
              <a:ext uri="{FF2B5EF4-FFF2-40B4-BE49-F238E27FC236}">
                <a16:creationId xmlns:a16="http://schemas.microsoft.com/office/drawing/2014/main" id="{4BB542A4-CA8E-4C72-A802-CE5F82C43E78}"/>
              </a:ext>
            </a:extLst>
          </p:cNvPr>
          <p:cNvSpPr>
            <a:spLocks noGrp="1"/>
          </p:cNvSpPr>
          <p:nvPr>
            <p:ph idx="1"/>
          </p:nvPr>
        </p:nvSpPr>
        <p:spPr/>
        <p:txBody>
          <a:bodyPr>
            <a:normAutofit/>
          </a:bodyPr>
          <a:lstStyle/>
          <a:p>
            <a:pPr marL="0" lvl="0" indent="0" eaLnBrk="0" fontAlgn="base" hangingPunct="0">
              <a:lnSpc>
                <a:spcPct val="100000"/>
              </a:lnSpc>
              <a:spcBef>
                <a:spcPct val="0"/>
              </a:spcBef>
              <a:spcAft>
                <a:spcPct val="0"/>
              </a:spcAft>
              <a:buNone/>
            </a:pPr>
            <a:r>
              <a:rPr lang="en-US" altLang="en-US" sz="1800" b="1" dirty="0">
                <a:latin typeface="Arial" panose="020B0604020202020204" pitchFamily="34" charset="0"/>
              </a:rPr>
              <a:t>4. Key Findings and Results</a:t>
            </a:r>
          </a:p>
          <a:p>
            <a:pPr marL="0" lvl="0" indent="0" eaLnBrk="0" fontAlgn="base" hangingPunct="0">
              <a:lnSpc>
                <a:spcPct val="100000"/>
              </a:lnSpc>
              <a:spcBef>
                <a:spcPct val="0"/>
              </a:spcBef>
              <a:spcAft>
                <a:spcPct val="0"/>
              </a:spcAft>
              <a:buFontTx/>
              <a:buChar char="•"/>
            </a:pPr>
            <a:r>
              <a:rPr lang="en-US" altLang="en-US" sz="1800" b="1" dirty="0">
                <a:latin typeface="Arial" panose="020B0604020202020204" pitchFamily="34" charset="0"/>
              </a:rPr>
              <a:t>Random vs. Pre-trained Initialization:</a:t>
            </a:r>
            <a:r>
              <a:rPr lang="en-US" altLang="en-US" sz="1800" dirty="0">
                <a:latin typeface="Arial" panose="020B0604020202020204" pitchFamily="34" charset="0"/>
              </a:rPr>
              <a:t> The authors discovered that initializing the on-device dense layer with random weights performed just as well as starting with weights pre-trained on a similar task(interesting as the first paper said the exact opposite). This is highly advantageous, as it means a single CNN feature extractor can be deployed, and the device can be easily retrained for entirely different classification tasks from scratch.</a:t>
            </a:r>
          </a:p>
          <a:p>
            <a:pPr marL="0" lvl="0" indent="0" eaLnBrk="0" fontAlgn="base" hangingPunct="0">
              <a:lnSpc>
                <a:spcPct val="100000"/>
              </a:lnSpc>
              <a:spcBef>
                <a:spcPct val="0"/>
              </a:spcBef>
              <a:spcAft>
                <a:spcPct val="0"/>
              </a:spcAft>
              <a:buFontTx/>
              <a:buChar char="•"/>
            </a:pPr>
            <a:r>
              <a:rPr lang="en-US" altLang="en-US" sz="1800" b="1" dirty="0">
                <a:latin typeface="Arial" panose="020B0604020202020204" pitchFamily="34" charset="0"/>
              </a:rPr>
              <a:t>Federated Learning Dynamics:</a:t>
            </a:r>
            <a:endParaRPr lang="en-US" altLang="en-US" sz="18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lang="en-US" altLang="en-US" sz="1800" b="1" dirty="0">
                <a:latin typeface="Arial" panose="020B0604020202020204" pitchFamily="34" charset="0"/>
              </a:rPr>
              <a:t>Number of Devices:</a:t>
            </a:r>
            <a:r>
              <a:rPr lang="en-US" altLang="en-US" sz="1800" dirty="0">
                <a:latin typeface="Arial" panose="020B0604020202020204" pitchFamily="34" charset="0"/>
              </a:rPr>
              <a:t> As the number of devices participating in the federated network increased, the validation accuracy slightly dropped. This is common in FL, as differing local updates can sometimes cancel each other out during the server averaging phase.</a:t>
            </a:r>
          </a:p>
          <a:p>
            <a:pPr marL="0" lv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p:txBody>
      </p:sp>
      <p:sp>
        <p:nvSpPr>
          <p:cNvPr id="4" name="Rectangle 2">
            <a:extLst>
              <a:ext uri="{FF2B5EF4-FFF2-40B4-BE49-F238E27FC236}">
                <a16:creationId xmlns:a16="http://schemas.microsoft.com/office/drawing/2014/main" id="{D0C828E8-1A47-45ED-B5CF-83FEF916194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23223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p:txBody>
          <a:bodyPr>
            <a:normAutofit/>
          </a:bodyPr>
          <a:lstStyle/>
          <a:p>
            <a:r>
              <a:rPr lang="en-US" dirty="0"/>
              <a:t>Paper5 Federated learning for IoT devices: Enhancing </a:t>
            </a:r>
            <a:r>
              <a:rPr lang="en-US" dirty="0" err="1"/>
              <a:t>TinyML</a:t>
            </a:r>
            <a:r>
              <a:rPr lang="en-US" dirty="0"/>
              <a:t> with on-board training </a:t>
            </a:r>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0CFE2D20-F588-42D9-939F-014E5367703B}"/>
              </a:ext>
            </a:extLst>
          </p:cNvPr>
          <p:cNvSpPr>
            <a:spLocks noGrp="1" noChangeArrowheads="1"/>
          </p:cNvSpPr>
          <p:nvPr>
            <p:ph idx="1"/>
          </p:nvPr>
        </p:nvSpPr>
        <p:spPr bwMode="auto">
          <a:xfrm>
            <a:off x="409597" y="1640783"/>
            <a:ext cx="11372805"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authors propose a technique that enables the </a:t>
            </a:r>
            <a:r>
              <a:rPr kumimoji="0" lang="en-US" altLang="en-US" sz="1600" b="1" i="0" u="none" strike="noStrike" cap="none" normalizeH="0" baseline="0" dirty="0">
                <a:ln>
                  <a:noFill/>
                </a:ln>
                <a:solidFill>
                  <a:schemeClr val="tx1"/>
                </a:solidFill>
                <a:effectLst/>
                <a:latin typeface="Arial" panose="020B0604020202020204" pitchFamily="34" charset="0"/>
              </a:rPr>
              <a:t>on-board training</a:t>
            </a:r>
            <a:r>
              <a:rPr kumimoji="0" lang="en-US" altLang="en-US" sz="1600" b="0" i="0" u="none" strike="noStrike" cap="none" normalizeH="0" baseline="0" dirty="0">
                <a:ln>
                  <a:noFill/>
                </a:ln>
                <a:solidFill>
                  <a:schemeClr val="tx1"/>
                </a:solidFill>
                <a:effectLst/>
                <a:latin typeface="Arial" panose="020B0604020202020204" pitchFamily="34" charset="0"/>
              </a:rPr>
              <a:t> of ML algorithms directly on highly resource-constrained IoT devices. To achieve high performance without overwhelming the microcontrollers, the architecture combines two approaches: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Transfer Learning (TL):</a:t>
            </a:r>
            <a:r>
              <a:rPr kumimoji="0" lang="en-US" altLang="en-US" sz="1600" b="0" i="0" u="none" strike="noStrike" cap="none" normalizeH="0" baseline="0" dirty="0">
                <a:ln>
                  <a:noFill/>
                </a:ln>
                <a:solidFill>
                  <a:schemeClr val="tx1"/>
                </a:solidFill>
                <a:effectLst/>
                <a:latin typeface="Arial" panose="020B0604020202020204" pitchFamily="34" charset="0"/>
              </a:rPr>
              <a:t> A central server provides devices with a pre-trained base model. Devices use this as a starting point to fine-tune the model with their local data, which dramatically speeds up training and improves accuracy compared to training from scratch.</a:t>
            </a:r>
          </a:p>
          <a:p>
            <a:pPr marL="457200" lvl="1" indent="0" eaLnBrk="0" fontAlgn="base" hangingPunct="0">
              <a:lnSpc>
                <a:spcPct val="100000"/>
              </a:lnSpc>
              <a:spcBef>
                <a:spcPct val="0"/>
              </a:spcBef>
              <a:spcAft>
                <a:spcPct val="0"/>
              </a:spcAft>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Federated Learning (FL):</a:t>
            </a:r>
            <a:r>
              <a:rPr kumimoji="0" lang="en-US" altLang="en-US" sz="1600" b="0" i="0" u="none" strike="noStrike" cap="none" normalizeH="0" baseline="0" dirty="0">
                <a:ln>
                  <a:noFill/>
                </a:ln>
                <a:solidFill>
                  <a:schemeClr val="tx1"/>
                </a:solidFill>
                <a:effectLst/>
                <a:latin typeface="Arial" panose="020B0604020202020204" pitchFamily="34" charset="0"/>
              </a:rPr>
              <a:t> Devices train the model locally and share only the resulting model weights with a central server, which aggregates them into a global model. The system uses the lightweight MQTT protocol to exchange these weights, specifically catering to low-bandwidth environments. They tested Google's </a:t>
            </a:r>
            <a:r>
              <a:rPr kumimoji="0" lang="en-US" altLang="en-US" sz="1600" b="0" i="0" u="none" strike="noStrike" cap="none" normalizeH="0" baseline="0" dirty="0" err="1">
                <a:ln>
                  <a:noFill/>
                </a:ln>
                <a:solidFill>
                  <a:schemeClr val="tx1"/>
                </a:solidFill>
                <a:effectLst/>
                <a:latin typeface="Arial" panose="020B0604020202020204" pitchFamily="34" charset="0"/>
              </a:rPr>
              <a:t>FedAvg</a:t>
            </a:r>
            <a:r>
              <a:rPr kumimoji="0" lang="en-US" altLang="en-US" sz="1600" b="0" i="0" u="none" strike="noStrike" cap="none" normalizeH="0" baseline="0" dirty="0">
                <a:ln>
                  <a:noFill/>
                </a:ln>
                <a:solidFill>
                  <a:schemeClr val="tx1"/>
                </a:solidFill>
                <a:effectLst/>
                <a:latin typeface="Arial" panose="020B0604020202020204" pitchFamily="34" charset="0"/>
              </a:rPr>
              <a:t> algorithm alongside a simplified FL approach.</a:t>
            </a:r>
          </a:p>
          <a:p>
            <a:pPr marL="457200" lvl="1" indent="0" eaLnBrk="0" fontAlgn="base" hangingPunct="0">
              <a:lnSpc>
                <a:spcPct val="100000"/>
              </a:lnSpc>
              <a:spcBef>
                <a:spcPct val="0"/>
              </a:spcBef>
              <a:spcAft>
                <a:spcPct val="0"/>
              </a:spcAft>
              <a:buFontTx/>
              <a:buChar char="•"/>
            </a:pPr>
            <a:r>
              <a:rPr lang="en-US" altLang="en-US" sz="1600" dirty="0">
                <a:latin typeface="Arial" panose="020B0604020202020204" pitchFamily="34" charset="0"/>
              </a:rPr>
              <a:t>Besides standard </a:t>
            </a:r>
            <a:r>
              <a:rPr lang="en-US" altLang="en-US" sz="1600" dirty="0" err="1">
                <a:latin typeface="Arial" panose="020B0604020202020204" pitchFamily="34" charset="0"/>
              </a:rPr>
              <a:t>FedAvg</a:t>
            </a:r>
            <a:r>
              <a:rPr lang="en-US" altLang="en-US" sz="1600" dirty="0">
                <a:latin typeface="Arial" panose="020B0604020202020204" pitchFamily="34" charset="0"/>
              </a:rPr>
              <a:t>, the authors proposed and tested a </a:t>
            </a:r>
            <a:r>
              <a:rPr lang="en-US" altLang="en-US" sz="1600" b="1" dirty="0">
                <a:latin typeface="Arial" panose="020B0604020202020204" pitchFamily="34" charset="0"/>
              </a:rPr>
              <a:t>"simplified alternative algorithm"</a:t>
            </a:r>
            <a:r>
              <a:rPr lang="en-US" altLang="en-US" sz="1600" dirty="0">
                <a:latin typeface="Arial" panose="020B0604020202020204" pitchFamily="34" charset="0"/>
              </a:rPr>
              <a:t>.</a:t>
            </a:r>
          </a:p>
          <a:p>
            <a:pPr marL="914400" lvl="2" indent="0" eaLnBrk="0" fontAlgn="base" hangingPunct="0">
              <a:lnSpc>
                <a:spcPct val="100000"/>
              </a:lnSpc>
              <a:spcBef>
                <a:spcPct val="0"/>
              </a:spcBef>
              <a:spcAft>
                <a:spcPct val="0"/>
              </a:spcAft>
              <a:buFontTx/>
              <a:buChar char="•"/>
            </a:pPr>
            <a:r>
              <a:rPr lang="en-US" altLang="en-US" sz="1600" b="1" dirty="0">
                <a:latin typeface="Arial" panose="020B0604020202020204" pitchFamily="34" charset="0"/>
              </a:rPr>
              <a:t>How it works:</a:t>
            </a:r>
            <a:r>
              <a:rPr lang="en-US" altLang="en-US" sz="1600" dirty="0">
                <a:latin typeface="Arial" panose="020B0604020202020204" pitchFamily="34" charset="0"/>
              </a:rPr>
              <a:t> Instead of the server aggregating the model at every single round (which is how </a:t>
            </a:r>
            <a:r>
              <a:rPr lang="en-US" altLang="en-US" sz="1600" dirty="0" err="1">
                <a:latin typeface="Arial" panose="020B0604020202020204" pitchFamily="34" charset="0"/>
              </a:rPr>
              <a:t>FedAvg</a:t>
            </a:r>
            <a:r>
              <a:rPr lang="en-US" altLang="en-US" sz="1600" dirty="0">
                <a:latin typeface="Arial" panose="020B0604020202020204" pitchFamily="34" charset="0"/>
              </a:rPr>
              <a:t> works), the devices using this simplified algorithm train their local models for </a:t>
            </a:r>
            <a:r>
              <a:rPr lang="en-US" altLang="en-US" sz="1600" b="1" dirty="0">
                <a:latin typeface="Arial" panose="020B0604020202020204" pitchFamily="34" charset="0"/>
              </a:rPr>
              <a:t>all of their epochs completely independently</a:t>
            </a:r>
            <a:r>
              <a:rPr lang="en-US" altLang="en-US" sz="1600" dirty="0">
                <a:latin typeface="Arial" panose="020B0604020202020204" pitchFamily="34" charset="0"/>
              </a:rPr>
              <a:t>. Only after a device has finished its entire training process does it send its final weights to the central server for aggregation.</a:t>
            </a:r>
          </a:p>
          <a:p>
            <a:pPr marL="914400" lvl="2" indent="0" eaLnBrk="0" fontAlgn="base" hangingPunct="0">
              <a:lnSpc>
                <a:spcPct val="100000"/>
              </a:lnSpc>
              <a:spcBef>
                <a:spcPct val="0"/>
              </a:spcBef>
              <a:spcAft>
                <a:spcPct val="0"/>
              </a:spcAft>
              <a:buFontTx/>
              <a:buChar char="•"/>
            </a:pPr>
            <a:r>
              <a:rPr lang="en-US" altLang="en-US" sz="1600" b="1" dirty="0">
                <a:latin typeface="Arial" panose="020B0604020202020204" pitchFamily="34" charset="0"/>
              </a:rPr>
              <a:t>Why they used it:</a:t>
            </a:r>
            <a:r>
              <a:rPr lang="en-US" altLang="en-US" sz="1600" dirty="0">
                <a:latin typeface="Arial" panose="020B0604020202020204" pitchFamily="34" charset="0"/>
              </a:rPr>
              <a:t> In a heterogeneous IoT network, some devices (like a Raspberry Pi) process data much faster than others (like an ESP8266). The authors introduced this simplified method so that faster nodes do not have to sit idle and wait for slower nodes to catch up at the end of every single communication round.</a:t>
            </a:r>
          </a:p>
          <a:p>
            <a:pPr marL="457200" lvl="1" indent="0" eaLnBrk="0" fontAlgn="base" hangingPunct="0">
              <a:lnSpc>
                <a:spcPct val="100000"/>
              </a:lnSpc>
              <a:spcBef>
                <a:spcPct val="0"/>
              </a:spcBef>
              <a:spcAft>
                <a:spcPct val="0"/>
              </a:spcAft>
              <a:buNone/>
            </a:pPr>
            <a:endParaRPr lang="en-US" altLang="en-US" sz="1600" dirty="0">
              <a:latin typeface="Arial" panose="020B0604020202020204" pitchFamily="34" charset="0"/>
            </a:endParaRPr>
          </a:p>
          <a:p>
            <a:pPr marL="457200" lvl="1" indent="0" eaLnBrk="0" fontAlgn="base" hangingPunct="0">
              <a:lnSpc>
                <a:spcPct val="100000"/>
              </a:lnSpc>
              <a:spcBef>
                <a:spcPct val="0"/>
              </a:spcBef>
              <a:spcAft>
                <a:spcPct val="0"/>
              </a:spcAft>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11008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p:txBody>
          <a:bodyPr>
            <a:normAutofit/>
          </a:bodyPr>
          <a:lstStyle/>
          <a:p>
            <a:r>
              <a:rPr lang="en-US" dirty="0"/>
              <a:t>Paper5 Federated learning for IoT devices: Enhancing </a:t>
            </a:r>
            <a:r>
              <a:rPr lang="en-US" dirty="0" err="1"/>
              <a:t>TinyML</a:t>
            </a:r>
            <a:r>
              <a:rPr lang="en-US" dirty="0"/>
              <a:t> with on-board training </a:t>
            </a:r>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0CFE2D20-F588-42D9-939F-014E5367703B}"/>
              </a:ext>
            </a:extLst>
          </p:cNvPr>
          <p:cNvSpPr>
            <a:spLocks noGrp="1" noChangeArrowheads="1"/>
          </p:cNvSpPr>
          <p:nvPr>
            <p:ph idx="1"/>
          </p:nvPr>
        </p:nvSpPr>
        <p:spPr bwMode="auto">
          <a:xfrm>
            <a:off x="838200" y="1877639"/>
            <a:ext cx="10418064"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1800" b="1" dirty="0">
                <a:latin typeface="Arial" panose="020B0604020202020204" pitchFamily="34" charset="0"/>
              </a:rPr>
              <a:t>3. Implementation and Hardware Optimizations:</a:t>
            </a:r>
          </a:p>
          <a:p>
            <a:pPr marL="0" lvl="0" indent="0" eaLnBrk="0" fontAlgn="base" hangingPunct="0">
              <a:lnSpc>
                <a:spcPct val="100000"/>
              </a:lnSpc>
              <a:spcBef>
                <a:spcPct val="0"/>
              </a:spcBef>
              <a:spcAft>
                <a:spcPct val="0"/>
              </a:spcAft>
              <a:buNone/>
            </a:pPr>
            <a:endParaRPr lang="en-US" altLang="en-US" sz="1800" b="1" dirty="0">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sz="1800" dirty="0">
                <a:latin typeface="Arial" panose="020B0604020202020204" pitchFamily="34" charset="0"/>
              </a:rPr>
              <a:t>Running ML training on devices with kilobytes of RAM required heavy optimization.</a:t>
            </a:r>
          </a:p>
          <a:p>
            <a:pPr marL="0" lv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800" b="1" dirty="0">
                <a:latin typeface="Arial" panose="020B0604020202020204" pitchFamily="34" charset="0"/>
              </a:rPr>
              <a:t>Software:</a:t>
            </a:r>
            <a:r>
              <a:rPr lang="en-US" altLang="en-US" sz="1800" dirty="0">
                <a:latin typeface="Arial" panose="020B0604020202020204" pitchFamily="34" charset="0"/>
              </a:rPr>
              <a:t> The system was built using </a:t>
            </a:r>
            <a:r>
              <a:rPr lang="en-US" altLang="en-US" sz="1800" b="1" dirty="0" err="1">
                <a:latin typeface="Arial Unicode MS"/>
              </a:rPr>
              <a:t>Genann</a:t>
            </a:r>
            <a:r>
              <a:rPr lang="en-US" altLang="en-US" sz="1800" dirty="0"/>
              <a:t>, a lightweight neural network library written in pure C with no external dependencies</a:t>
            </a:r>
            <a:r>
              <a:rPr lang="en-US" altLang="en-US" sz="1800" dirty="0">
                <a:latin typeface="Arial" panose="020B0604020202020204" pitchFamily="34" charset="0"/>
              </a:rPr>
              <a:t>. The authors modified the library to use </a:t>
            </a:r>
            <a:r>
              <a:rPr lang="en-US" altLang="en-US" sz="1800" dirty="0">
                <a:latin typeface="Arial Unicode MS"/>
              </a:rPr>
              <a:t>float</a:t>
            </a:r>
            <a:r>
              <a:rPr lang="en-US" altLang="en-US" sz="1800" dirty="0"/>
              <a:t> instead of </a:t>
            </a:r>
            <a:r>
              <a:rPr lang="en-US" altLang="en-US" sz="1800" dirty="0">
                <a:latin typeface="Arial Unicode MS"/>
              </a:rPr>
              <a:t>double</a:t>
            </a:r>
            <a:r>
              <a:rPr lang="en-US" altLang="en-US" sz="1800" dirty="0"/>
              <a:t> data types and introduced a character-by-character dataset reading method or line by line</a:t>
            </a:r>
            <a:r>
              <a:rPr lang="en-US" altLang="en-US" sz="1800" dirty="0">
                <a:latin typeface="Arial" panose="020B0604020202020204" pitchFamily="34" charset="0"/>
              </a:rPr>
              <a:t>. This optimization slashed the memory required to load a dataset from ~3095 kB down to just 0.64 kB.</a:t>
            </a:r>
          </a:p>
          <a:p>
            <a:pPr marL="0" lvl="0" indent="0" eaLnBrk="0" fontAlgn="base" hangingPunct="0">
              <a:lnSpc>
                <a:spcPct val="100000"/>
              </a:lnSpc>
              <a:spcBef>
                <a:spcPct val="0"/>
              </a:spcBef>
              <a:spcAft>
                <a:spcPct val="0"/>
              </a:spcAft>
              <a:buFontTx/>
              <a:buChar char="•"/>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sz="1800" b="1" dirty="0">
                <a:latin typeface="Arial" panose="020B0604020202020204" pitchFamily="34" charset="0"/>
              </a:rPr>
              <a:t>Hardware Tested:</a:t>
            </a:r>
            <a:r>
              <a:rPr lang="en-US" altLang="en-US" sz="1800" dirty="0">
                <a:latin typeface="Arial" panose="020B0604020202020204" pitchFamily="34" charset="0"/>
              </a:rPr>
              <a:t> The heterogeneous network included an Arduino </a:t>
            </a:r>
            <a:r>
              <a:rPr lang="en-US" altLang="en-US" sz="1800" dirty="0" err="1">
                <a:latin typeface="Arial" panose="020B0604020202020204" pitchFamily="34" charset="0"/>
              </a:rPr>
              <a:t>WiFi</a:t>
            </a:r>
            <a:r>
              <a:rPr lang="en-US" altLang="en-US" sz="1800" dirty="0">
                <a:latin typeface="Arial" panose="020B0604020202020204" pitchFamily="34" charset="0"/>
              </a:rPr>
              <a:t> Rev2, ESP8266, ESP32, Arduino MKR1010, Raspberry Pi Zero W, and Raspberry Pi 3 B+ (which acted as the central server/broker).</a:t>
            </a:r>
          </a:p>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Note : they attached an </a:t>
            </a:r>
            <a:r>
              <a:rPr lang="en-US" altLang="en-US" sz="1800" dirty="0" err="1">
                <a:latin typeface="Arial" panose="020B0604020202020204" pitchFamily="34" charset="0"/>
              </a:rPr>
              <a:t>sd</a:t>
            </a:r>
            <a:r>
              <a:rPr lang="en-US" altLang="en-US" sz="1800" dirty="0">
                <a:latin typeface="Arial" panose="020B0604020202020204" pitchFamily="34" charset="0"/>
              </a:rPr>
              <a:t> card to the devices so the device is already has the data note quite sure would it work if the device it self captures the photos or not (I think it is offline federated learning)</a:t>
            </a:r>
          </a:p>
          <a:p>
            <a:pPr marL="0" lv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p:txBody>
      </p:sp>
      <p:sp>
        <p:nvSpPr>
          <p:cNvPr id="7" name="Rectangle 2">
            <a:extLst>
              <a:ext uri="{FF2B5EF4-FFF2-40B4-BE49-F238E27FC236}">
                <a16:creationId xmlns:a16="http://schemas.microsoft.com/office/drawing/2014/main" id="{7F89B56B-FCB4-4F55-8F24-C27CBC7F2D78}"/>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809565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a:xfrm>
            <a:off x="789432" y="0"/>
            <a:ext cx="10515600" cy="1325563"/>
          </a:xfrm>
        </p:spPr>
        <p:txBody>
          <a:bodyPr>
            <a:normAutofit/>
          </a:bodyPr>
          <a:lstStyle/>
          <a:p>
            <a:r>
              <a:rPr lang="en-US" dirty="0"/>
              <a:t>Paper5 Federated learning for IoT devices: Enhancing </a:t>
            </a:r>
            <a:r>
              <a:rPr lang="en-US" dirty="0" err="1"/>
              <a:t>TinyML</a:t>
            </a:r>
            <a:r>
              <a:rPr lang="en-US" dirty="0"/>
              <a:t> with on-board training </a:t>
            </a:r>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0CFE2D20-F588-42D9-939F-014E5367703B}"/>
              </a:ext>
            </a:extLst>
          </p:cNvPr>
          <p:cNvSpPr>
            <a:spLocks noGrp="1" noChangeArrowheads="1"/>
          </p:cNvSpPr>
          <p:nvPr>
            <p:ph idx="1"/>
          </p:nvPr>
        </p:nvSpPr>
        <p:spPr bwMode="auto">
          <a:xfrm>
            <a:off x="838200" y="1246696"/>
            <a:ext cx="10418064"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1600" b="1" dirty="0">
                <a:latin typeface="Arial" panose="020B0604020202020204" pitchFamily="34" charset="0"/>
              </a:rPr>
              <a:t>4. Experimental Results</a:t>
            </a:r>
          </a:p>
          <a:p>
            <a:pPr marL="0" lvl="0" indent="0" eaLnBrk="0" fontAlgn="base" hangingPunct="0">
              <a:lnSpc>
                <a:spcPct val="100000"/>
              </a:lnSpc>
              <a:spcBef>
                <a:spcPct val="0"/>
              </a:spcBef>
              <a:spcAft>
                <a:spcPct val="0"/>
              </a:spcAft>
              <a:buNone/>
            </a:pPr>
            <a:r>
              <a:rPr lang="en-US" altLang="en-US" sz="1600" dirty="0">
                <a:latin typeface="Arial" panose="020B0604020202020204" pitchFamily="34" charset="0"/>
              </a:rPr>
              <a:t>The system was tested on two primary tasks: Classification and Regression.</a:t>
            </a:r>
          </a:p>
          <a:p>
            <a:pPr marL="0" lvl="0" indent="0" eaLnBrk="0" fontAlgn="base" hangingPunct="0">
              <a:lnSpc>
                <a:spcPct val="100000"/>
              </a:lnSpc>
              <a:spcBef>
                <a:spcPct val="0"/>
              </a:spcBef>
              <a:spcAft>
                <a:spcPct val="0"/>
              </a:spcAft>
              <a:buFontTx/>
              <a:buChar char="•"/>
            </a:pPr>
            <a:r>
              <a:rPr lang="en-US" altLang="en-US" sz="1600" b="1" dirty="0">
                <a:latin typeface="Arial" panose="020B0604020202020204" pitchFamily="34" charset="0"/>
              </a:rPr>
              <a:t>Accuracy:</a:t>
            </a:r>
            <a:r>
              <a:rPr lang="en-US" altLang="en-US" sz="1600" dirty="0">
                <a:latin typeface="Arial" panose="020B0604020202020204" pitchFamily="34" charset="0"/>
              </a:rPr>
              <a:t> The combination of </a:t>
            </a:r>
            <a:r>
              <a:rPr lang="en-US" altLang="en-US" sz="1600" dirty="0" err="1">
                <a:latin typeface="Arial" panose="020B0604020202020204" pitchFamily="34" charset="0"/>
              </a:rPr>
              <a:t>FedAvg</a:t>
            </a:r>
            <a:r>
              <a:rPr lang="en-US" altLang="en-US" sz="1600" dirty="0">
                <a:latin typeface="Arial" panose="020B0604020202020204" pitchFamily="34" charset="0"/>
              </a:rPr>
              <a:t> with Transfer Learning achieved highly accurate results. In the classification task, it reached 86.48% accuracy. In regression, it achieved a Mean Absolute Error (MAE) of 0.0201. These results were practically identical to models trained centrally on the full dataset using standard frameworks like TensorFlow Lite.</a:t>
            </a:r>
          </a:p>
          <a:p>
            <a:pPr marL="0" lvl="0" indent="0" eaLnBrk="0" fontAlgn="base" hangingPunct="0">
              <a:lnSpc>
                <a:spcPct val="100000"/>
              </a:lnSpc>
              <a:spcBef>
                <a:spcPct val="0"/>
              </a:spcBef>
              <a:spcAft>
                <a:spcPct val="0"/>
              </a:spcAft>
              <a:buFontTx/>
              <a:buChar char="•"/>
            </a:pPr>
            <a:r>
              <a:rPr lang="en-US" altLang="en-US" sz="1600" b="1" dirty="0">
                <a:latin typeface="Arial" panose="020B0604020202020204" pitchFamily="34" charset="0"/>
              </a:rPr>
              <a:t>Energy and Time Efficiency:</a:t>
            </a:r>
            <a:r>
              <a:rPr lang="en-US" altLang="en-US" sz="1600" dirty="0">
                <a:latin typeface="Arial" panose="020B0604020202020204" pitchFamily="34" charset="0"/>
              </a:rPr>
              <a:t> The ESP32 proved to be the most energy-efficient training device, consuming only 0.06 A (significantly less than the 21 A consumed by a standard PC). Furthermore, when a </a:t>
            </a:r>
            <a:r>
              <a:rPr lang="en-US" altLang="en-US" sz="1600" i="1" dirty="0">
                <a:latin typeface="Arial" panose="020B0604020202020204" pitchFamily="34" charset="0"/>
              </a:rPr>
              <a:t>new</a:t>
            </a:r>
            <a:r>
              <a:rPr lang="en-US" altLang="en-US" sz="1600" dirty="0">
                <a:latin typeface="Arial" panose="020B0604020202020204" pitchFamily="34" charset="0"/>
              </a:rPr>
              <a:t> device joins the network, downloading the pre-trained FL weights takes only about 63 seconds, compared to the 8–9 hours it would take a microcontroller to train the model from scratch.</a:t>
            </a:r>
          </a:p>
          <a:p>
            <a:pPr marL="0" lvl="0" indent="0" eaLnBrk="0" fontAlgn="base" hangingPunct="0">
              <a:lnSpc>
                <a:spcPct val="100000"/>
              </a:lnSpc>
              <a:spcBef>
                <a:spcPct val="0"/>
              </a:spcBef>
              <a:spcAft>
                <a:spcPct val="0"/>
              </a:spcAft>
              <a:buFontTx/>
              <a:buChar char="•"/>
            </a:pPr>
            <a:r>
              <a:rPr lang="en-US" altLang="en-US" sz="1600" b="1" dirty="0">
                <a:latin typeface="Arial" panose="020B0604020202020204" pitchFamily="34" charset="0"/>
              </a:rPr>
              <a:t>Handling Unbalanced Data:</a:t>
            </a:r>
            <a:r>
              <a:rPr lang="en-US" altLang="en-US" sz="1600" dirty="0">
                <a:latin typeface="Arial" panose="020B0604020202020204" pitchFamily="34" charset="0"/>
              </a:rPr>
              <a:t> In realistic IoT scenarios, a single device might only observe a skewed or unbalanced subset of data. The experiments showed that the </a:t>
            </a:r>
            <a:r>
              <a:rPr lang="en-US" altLang="en-US" sz="1600" dirty="0" err="1">
                <a:latin typeface="Arial" panose="020B0604020202020204" pitchFamily="34" charset="0"/>
              </a:rPr>
              <a:t>FedAvg</a:t>
            </a:r>
            <a:r>
              <a:rPr lang="en-US" altLang="en-US" sz="1600" dirty="0">
                <a:latin typeface="Arial" panose="020B0604020202020204" pitchFamily="34" charset="0"/>
              </a:rPr>
              <a:t> algorithm successfully mitigated this issue, producing a robust global model that maintained high accuracy even when individual nodes trained on highly unbalanced local datasets.</a:t>
            </a:r>
          </a:p>
          <a:p>
            <a:pPr marL="0" lvl="0" indent="0" eaLnBrk="0" fontAlgn="base" hangingPunct="0">
              <a:lnSpc>
                <a:spcPct val="100000"/>
              </a:lnSpc>
              <a:spcBef>
                <a:spcPct val="0"/>
              </a:spcBef>
              <a:spcAft>
                <a:spcPct val="0"/>
              </a:spcAft>
              <a:buNone/>
            </a:pPr>
            <a:endParaRPr lang="en-US" altLang="en-US" sz="1600" b="1" dirty="0">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sz="1600" b="1" dirty="0">
                <a:latin typeface="Arial" panose="020B0604020202020204" pitchFamily="34" charset="0"/>
              </a:rPr>
              <a:t>5. Post-Deployment Continuous Learning</a:t>
            </a:r>
          </a:p>
          <a:p>
            <a:pPr marL="0" lvl="0" indent="0" eaLnBrk="0" fontAlgn="base" hangingPunct="0">
              <a:lnSpc>
                <a:spcPct val="100000"/>
              </a:lnSpc>
              <a:spcBef>
                <a:spcPct val="0"/>
              </a:spcBef>
              <a:spcAft>
                <a:spcPct val="0"/>
              </a:spcAft>
              <a:buNone/>
            </a:pPr>
            <a:r>
              <a:rPr lang="en-US" altLang="en-US" sz="1600" dirty="0">
                <a:latin typeface="Arial" panose="020B0604020202020204" pitchFamily="34" charset="0"/>
              </a:rPr>
              <a:t>The authors also tested a method for the model to continue improving after deployment. Using a technique called </a:t>
            </a:r>
            <a:r>
              <a:rPr lang="en-US" altLang="en-US" sz="1600" dirty="0" err="1">
                <a:latin typeface="Arial" panose="020B0604020202020204" pitchFamily="34" charset="0"/>
              </a:rPr>
              <a:t>DeepEST</a:t>
            </a:r>
            <a:r>
              <a:rPr lang="en-US" altLang="en-US" sz="1600" dirty="0">
                <a:latin typeface="Arial" panose="020B0604020202020204" pitchFamily="34" charset="0"/>
              </a:rPr>
              <a:t>, the system isolated data samples that had a high probability of being misclassified during live operation. By having a specialist label these difficult edge-cases and retraining the model on them, the network's overall accuracy further increased from 84.3% to 86.22%.(is this overfitting ,not sure)</a:t>
            </a:r>
          </a:p>
          <a:p>
            <a:pPr marL="0" lvl="0" indent="0" eaLnBrk="0" fontAlgn="base" hangingPunct="0">
              <a:lnSpc>
                <a:spcPct val="100000"/>
              </a:lnSpc>
              <a:spcBef>
                <a:spcPct val="0"/>
              </a:spcBef>
              <a:spcAft>
                <a:spcPct val="0"/>
              </a:spcAft>
              <a:buNone/>
            </a:pPr>
            <a:endParaRPr lang="en-US" altLang="en-US" sz="1600" dirty="0">
              <a:latin typeface="Arial" panose="020B0604020202020204" pitchFamily="34" charset="0"/>
            </a:endParaRPr>
          </a:p>
          <a:p>
            <a:pPr marL="0" lvl="0" indent="0" eaLnBrk="0" fontAlgn="base" hangingPunct="0">
              <a:lnSpc>
                <a:spcPct val="100000"/>
              </a:lnSpc>
              <a:spcBef>
                <a:spcPct val="0"/>
              </a:spcBef>
              <a:spcAft>
                <a:spcPct val="0"/>
              </a:spcAft>
              <a:buNone/>
            </a:pPr>
            <a:endParaRPr lang="en-US" altLang="en-US" sz="1600" dirty="0">
              <a:latin typeface="Arial" panose="020B0604020202020204" pitchFamily="34" charset="0"/>
            </a:endParaRPr>
          </a:p>
        </p:txBody>
      </p:sp>
      <p:sp>
        <p:nvSpPr>
          <p:cNvPr id="7" name="Rectangle 2">
            <a:extLst>
              <a:ext uri="{FF2B5EF4-FFF2-40B4-BE49-F238E27FC236}">
                <a16:creationId xmlns:a16="http://schemas.microsoft.com/office/drawing/2014/main" id="{7F89B56B-FCB4-4F55-8F24-C27CBC7F2D78}"/>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D9DE12E1-71B3-4FF3-8D80-DB0615AB9E02}"/>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3">
            <a:extLst>
              <a:ext uri="{FF2B5EF4-FFF2-40B4-BE49-F238E27FC236}">
                <a16:creationId xmlns:a16="http://schemas.microsoft.com/office/drawing/2014/main" id="{CCCD09B0-DF6F-47F7-B00F-27127C507734}"/>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1469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a:xfrm>
            <a:off x="789432" y="0"/>
            <a:ext cx="10515600" cy="1325563"/>
          </a:xfrm>
        </p:spPr>
        <p:txBody>
          <a:bodyPr>
            <a:normAutofit/>
          </a:bodyPr>
          <a:lstStyle/>
          <a:p>
            <a:r>
              <a:rPr lang="en-US" dirty="0"/>
              <a:t>Paper5 Federated learning for IoT devices: Enhancing </a:t>
            </a:r>
            <a:r>
              <a:rPr lang="en-US" dirty="0" err="1"/>
              <a:t>TinyML</a:t>
            </a:r>
            <a:r>
              <a:rPr lang="en-US" dirty="0"/>
              <a:t> with on-board training </a:t>
            </a:r>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0CFE2D20-F588-42D9-939F-014E5367703B}"/>
              </a:ext>
            </a:extLst>
          </p:cNvPr>
          <p:cNvSpPr>
            <a:spLocks noGrp="1" noChangeArrowheads="1"/>
          </p:cNvSpPr>
          <p:nvPr>
            <p:ph idx="1"/>
          </p:nvPr>
        </p:nvSpPr>
        <p:spPr bwMode="auto">
          <a:xfrm>
            <a:off x="838200" y="3708908"/>
            <a:ext cx="1041806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1600" b="1" dirty="0">
                <a:latin typeface="Arial" panose="020B0604020202020204" pitchFamily="34" charset="0"/>
              </a:rPr>
              <a:t>There is a </a:t>
            </a:r>
            <a:r>
              <a:rPr lang="en-US" altLang="en-US" sz="1600" b="1" dirty="0" err="1">
                <a:latin typeface="Arial" panose="020B0604020202020204" pitchFamily="34" charset="0"/>
              </a:rPr>
              <a:t>github</a:t>
            </a:r>
            <a:r>
              <a:rPr lang="en-US" altLang="en-US" sz="1600" b="1" dirty="0">
                <a:latin typeface="Arial" panose="020B0604020202020204" pitchFamily="34" charset="0"/>
              </a:rPr>
              <a:t> repo for their implementation and also paper 4</a:t>
            </a:r>
            <a:endParaRPr lang="en-US" altLang="en-US" sz="1600" dirty="0">
              <a:latin typeface="Arial" panose="020B0604020202020204" pitchFamily="34" charset="0"/>
            </a:endParaRPr>
          </a:p>
          <a:p>
            <a:pPr marL="0" lvl="0" indent="0" eaLnBrk="0" fontAlgn="base" hangingPunct="0">
              <a:lnSpc>
                <a:spcPct val="100000"/>
              </a:lnSpc>
              <a:spcBef>
                <a:spcPct val="0"/>
              </a:spcBef>
              <a:spcAft>
                <a:spcPct val="0"/>
              </a:spcAft>
              <a:buNone/>
            </a:pPr>
            <a:endParaRPr lang="en-US" altLang="en-US" sz="1600" dirty="0">
              <a:latin typeface="Arial" panose="020B0604020202020204" pitchFamily="34" charset="0"/>
            </a:endParaRPr>
          </a:p>
        </p:txBody>
      </p:sp>
      <p:sp>
        <p:nvSpPr>
          <p:cNvPr id="7" name="Rectangle 2">
            <a:extLst>
              <a:ext uri="{FF2B5EF4-FFF2-40B4-BE49-F238E27FC236}">
                <a16:creationId xmlns:a16="http://schemas.microsoft.com/office/drawing/2014/main" id="{7F89B56B-FCB4-4F55-8F24-C27CBC7F2D78}"/>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D9DE12E1-71B3-4FF3-8D80-DB0615AB9E02}"/>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3">
            <a:extLst>
              <a:ext uri="{FF2B5EF4-FFF2-40B4-BE49-F238E27FC236}">
                <a16:creationId xmlns:a16="http://schemas.microsoft.com/office/drawing/2014/main" id="{CCCD09B0-DF6F-47F7-B00F-27127C507734}"/>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32482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a:xfrm>
            <a:off x="789432" y="0"/>
            <a:ext cx="10515600" cy="1325563"/>
          </a:xfrm>
        </p:spPr>
        <p:txBody>
          <a:bodyPr>
            <a:normAutofit fontScale="90000"/>
          </a:bodyPr>
          <a:lstStyle/>
          <a:p>
            <a:r>
              <a:rPr lang="en-US" dirty="0"/>
              <a:t>Paper7 Lightweight Federated Learning Approach for Resource-Constrained Internet of Things</a:t>
            </a:r>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7F89B56B-FCB4-4F55-8F24-C27CBC7F2D78}"/>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D9DE12E1-71B3-4FF3-8D80-DB0615AB9E02}"/>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3">
            <a:extLst>
              <a:ext uri="{FF2B5EF4-FFF2-40B4-BE49-F238E27FC236}">
                <a16:creationId xmlns:a16="http://schemas.microsoft.com/office/drawing/2014/main" id="{CCCD09B0-DF6F-47F7-B00F-27127C507734}"/>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1">
            <a:extLst>
              <a:ext uri="{FF2B5EF4-FFF2-40B4-BE49-F238E27FC236}">
                <a16:creationId xmlns:a16="http://schemas.microsoft.com/office/drawing/2014/main" id="{955730B3-AC8D-4ACD-8984-7EAD949DC452}"/>
              </a:ext>
            </a:extLst>
          </p:cNvPr>
          <p:cNvSpPr>
            <a:spLocks noGrp="1" noChangeArrowheads="1"/>
          </p:cNvSpPr>
          <p:nvPr>
            <p:ph idx="1"/>
          </p:nvPr>
        </p:nvSpPr>
        <p:spPr bwMode="auto">
          <a:xfrm flipH="1">
            <a:off x="337488" y="1792418"/>
            <a:ext cx="1115526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Introduces "Tiny Federated Nearest Neighbors" (TFNN), a lightweight alternative to traditional Federated Learning (FL).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Goal:</a:t>
            </a:r>
            <a:r>
              <a:rPr kumimoji="0" lang="en-US" altLang="en-US" sz="1800" b="0" i="0" u="none" strike="noStrike" cap="none" normalizeH="0" baseline="0" dirty="0">
                <a:ln>
                  <a:noFill/>
                </a:ln>
                <a:solidFill>
                  <a:schemeClr val="tx1"/>
                </a:solidFill>
                <a:effectLst/>
                <a:latin typeface="Arial" panose="020B0604020202020204" pitchFamily="34" charset="0"/>
              </a:rPr>
              <a:t> To reduce the battery drain and communication bottlenecks due </a:t>
            </a:r>
            <a:r>
              <a:rPr kumimoji="0" lang="en-US" altLang="en-US" sz="1800" b="0" i="0" u="none" strike="noStrike" cap="none" normalizeH="0" baseline="0" dirty="0" err="1">
                <a:ln>
                  <a:noFill/>
                </a:ln>
                <a:solidFill>
                  <a:schemeClr val="tx1"/>
                </a:solidFill>
                <a:effectLst/>
                <a:latin typeface="Arial" panose="020B0604020202020204" pitchFamily="34" charset="0"/>
              </a:rPr>
              <a:t>yo</a:t>
            </a:r>
            <a:r>
              <a:rPr kumimoji="0" lang="en-US" altLang="en-US" sz="1800" b="0" i="0" u="none" strike="noStrike" cap="none" normalizeH="0" baseline="0" dirty="0">
                <a:ln>
                  <a:noFill/>
                </a:ln>
                <a:solidFill>
                  <a:schemeClr val="tx1"/>
                </a:solidFill>
                <a:effectLst/>
                <a:latin typeface="Arial" panose="020B0604020202020204" pitchFamily="34" charset="0"/>
              </a:rPr>
              <a:t> using neural networks FL algorithms (like </a:t>
            </a:r>
            <a:r>
              <a:rPr kumimoji="0" lang="en-US" altLang="en-US" sz="1800" b="0" i="0" u="none" strike="noStrike" cap="none" normalizeH="0" baseline="0" dirty="0" err="1">
                <a:ln>
                  <a:noFill/>
                </a:ln>
                <a:solidFill>
                  <a:schemeClr val="tx1"/>
                </a:solidFill>
                <a:effectLst/>
                <a:latin typeface="Arial" panose="020B0604020202020204" pitchFamily="34" charset="0"/>
              </a:rPr>
              <a:t>FedAvg</a:t>
            </a:r>
            <a:r>
              <a:rPr kumimoji="0" lang="en-US" altLang="en-US" sz="1800" b="0" i="0" u="none" strike="noStrike" cap="none" normalizeH="0" baseline="0" dirty="0">
                <a:ln>
                  <a:noFill/>
                </a:ln>
                <a:solidFill>
                  <a:schemeClr val="tx1"/>
                </a:solidFill>
                <a:effectLst/>
                <a:latin typeface="Arial" panose="020B0604020202020204" pitchFamily="34" charset="0"/>
              </a:rPr>
              <a:t> or </a:t>
            </a:r>
            <a:r>
              <a:rPr kumimoji="0" lang="en-US" altLang="en-US" sz="1800" b="0" i="0" u="none" strike="noStrike" cap="none" normalizeH="0" baseline="0" dirty="0" err="1">
                <a:ln>
                  <a:noFill/>
                </a:ln>
                <a:solidFill>
                  <a:schemeClr val="tx1"/>
                </a:solidFill>
                <a:effectLst/>
                <a:latin typeface="Arial" panose="020B0604020202020204" pitchFamily="34" charset="0"/>
              </a:rPr>
              <a:t>FedProx</a:t>
            </a:r>
            <a:r>
              <a:rPr kumimoji="0" lang="en-US" altLang="en-US" sz="1800" b="0" i="0" u="none" strike="noStrike" cap="none" normalizeH="0" baseline="0" dirty="0">
                <a:ln>
                  <a:noFill/>
                </a:ln>
                <a:solidFill>
                  <a:schemeClr val="tx1"/>
                </a:solidFill>
                <a:effectLst/>
                <a:latin typeface="Arial" panose="020B0604020202020204" pitchFamily="34" charset="0"/>
              </a:rPr>
              <a:t>) operating on resource-constrained IoT nodes.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atin typeface="Arial" panose="020B0604020202020204" pitchFamily="34" charset="0"/>
              </a:rPr>
              <a:t>Results very bad for complex datasets that needs neural networks in the normal case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280877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a:xfrm>
            <a:off x="789432" y="0"/>
            <a:ext cx="10515600" cy="1325563"/>
          </a:xfrm>
        </p:spPr>
        <p:txBody>
          <a:bodyPr>
            <a:normAutofit/>
          </a:bodyPr>
          <a:lstStyle/>
          <a:p>
            <a:r>
              <a:rPr lang="en-US" dirty="0"/>
              <a:t>Paper9 : </a:t>
            </a:r>
            <a:r>
              <a:rPr lang="en-US" dirty="0" err="1"/>
              <a:t>TinyReptile</a:t>
            </a:r>
            <a:endParaRPr lang="en-US" dirty="0"/>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7F89B56B-FCB4-4F55-8F24-C27CBC7F2D78}"/>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D9DE12E1-71B3-4FF3-8D80-DB0615AB9E02}"/>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3">
            <a:extLst>
              <a:ext uri="{FF2B5EF4-FFF2-40B4-BE49-F238E27FC236}">
                <a16:creationId xmlns:a16="http://schemas.microsoft.com/office/drawing/2014/main" id="{CCCD09B0-DF6F-47F7-B00F-27127C507734}"/>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1">
            <a:extLst>
              <a:ext uri="{FF2B5EF4-FFF2-40B4-BE49-F238E27FC236}">
                <a16:creationId xmlns:a16="http://schemas.microsoft.com/office/drawing/2014/main" id="{955730B3-AC8D-4ACD-8984-7EAD949DC452}"/>
              </a:ext>
            </a:extLst>
          </p:cNvPr>
          <p:cNvSpPr>
            <a:spLocks noGrp="1" noChangeArrowheads="1"/>
          </p:cNvSpPr>
          <p:nvPr>
            <p:ph idx="1"/>
          </p:nvPr>
        </p:nvSpPr>
        <p:spPr bwMode="auto">
          <a:xfrm flipH="1">
            <a:off x="337488" y="1099921"/>
            <a:ext cx="1103872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sz="1800" b="1" dirty="0">
                <a:latin typeface="Arial" panose="020B0604020202020204" pitchFamily="34" charset="0"/>
              </a:rPr>
              <a:t>The Core Problem:</a:t>
            </a:r>
            <a:r>
              <a:rPr lang="en-US" altLang="en-US" sz="1800" dirty="0">
                <a:latin typeface="Arial" panose="020B0604020202020204" pitchFamily="34" charset="0"/>
              </a:rPr>
              <a:t> Traditional Federated Learning fails on microcontrollers because devices have heterogeneous (Non-IID) data, and standard training requires storing massive batches of data in limited SRAM.</a:t>
            </a:r>
          </a:p>
          <a:p>
            <a:pPr eaLnBrk="0" fontAlgn="base" hangingPunct="0">
              <a:lnSpc>
                <a:spcPct val="100000"/>
              </a:lnSpc>
              <a:spcBef>
                <a:spcPct val="0"/>
              </a:spcBef>
              <a:spcAft>
                <a:spcPct val="0"/>
              </a:spcAft>
            </a:pPr>
            <a:r>
              <a:rPr lang="en-US" altLang="en-US" sz="1800" b="1" dirty="0">
                <a:latin typeface="Arial" panose="020B0604020202020204" pitchFamily="34" charset="0"/>
              </a:rPr>
              <a:t>The Shift to Meta-Learning:</a:t>
            </a:r>
            <a:r>
              <a:rPr lang="en-US" altLang="en-US" sz="1800" dirty="0">
                <a:latin typeface="Arial" panose="020B0604020202020204" pitchFamily="34" charset="0"/>
              </a:rPr>
              <a:t> Instead of forcing all devices to agree on a single global model, </a:t>
            </a:r>
            <a:r>
              <a:rPr lang="en-US" altLang="en-US" sz="1800" dirty="0" err="1">
                <a:latin typeface="Arial" panose="020B0604020202020204" pitchFamily="34" charset="0"/>
              </a:rPr>
              <a:t>TinyReptile</a:t>
            </a:r>
            <a:r>
              <a:rPr lang="en-US" altLang="en-US" sz="1800" dirty="0">
                <a:latin typeface="Arial" panose="020B0604020202020204" pitchFamily="34" charset="0"/>
              </a:rPr>
              <a:t> trains a highly adaptable neural network </a:t>
            </a:r>
            <a:r>
              <a:rPr lang="en-US" altLang="en-US" sz="1800" i="1" dirty="0">
                <a:latin typeface="Arial" panose="020B0604020202020204" pitchFamily="34" charset="0"/>
              </a:rPr>
              <a:t>initialization</a:t>
            </a:r>
            <a:r>
              <a:rPr lang="en-US" altLang="en-US" sz="1800" dirty="0">
                <a:latin typeface="Arial" panose="020B0604020202020204" pitchFamily="34" charset="0"/>
              </a:rPr>
              <a:t>.</a:t>
            </a:r>
          </a:p>
          <a:p>
            <a:pPr eaLnBrk="0" fontAlgn="base" hangingPunct="0">
              <a:lnSpc>
                <a:spcPct val="100000"/>
              </a:lnSpc>
              <a:spcBef>
                <a:spcPct val="0"/>
              </a:spcBef>
              <a:spcAft>
                <a:spcPct val="0"/>
              </a:spcAft>
            </a:pPr>
            <a:r>
              <a:rPr lang="en-US" altLang="en-US" sz="1800" b="1" dirty="0">
                <a:latin typeface="Arial" panose="020B0604020202020204" pitchFamily="34" charset="0"/>
              </a:rPr>
              <a:t>Rapid Personalization:</a:t>
            </a:r>
            <a:r>
              <a:rPr lang="en-US" altLang="en-US" sz="1800" dirty="0">
                <a:latin typeface="Arial" panose="020B0604020202020204" pitchFamily="34" charset="0"/>
              </a:rPr>
              <a:t> Once a node downloads this generalized initialization, it can quickly fine-tune the model to its specific local environment using only a tiny amount of new data.</a:t>
            </a:r>
          </a:p>
          <a:p>
            <a:pPr eaLnBrk="0" fontAlgn="base" hangingPunct="0">
              <a:lnSpc>
                <a:spcPct val="100000"/>
              </a:lnSpc>
              <a:spcBef>
                <a:spcPct val="0"/>
              </a:spcBef>
              <a:spcAft>
                <a:spcPct val="0"/>
              </a:spcAft>
            </a:pPr>
            <a:r>
              <a:rPr lang="en-US" altLang="en-US" sz="1800" b="1" dirty="0">
                <a:latin typeface="Arial" panose="020B0604020202020204" pitchFamily="34" charset="0"/>
              </a:rPr>
              <a:t>Key Technical Innovation (Online Learning):</a:t>
            </a:r>
            <a:r>
              <a:rPr lang="en-US" altLang="en-US" sz="1800" dirty="0">
                <a:latin typeface="Arial" panose="020B0604020202020204" pitchFamily="34" charset="0"/>
              </a:rPr>
              <a:t> To solve the memory crash issue, </a:t>
            </a:r>
            <a:r>
              <a:rPr lang="en-US" altLang="en-US" sz="1800" dirty="0" err="1">
                <a:latin typeface="Arial" panose="020B0604020202020204" pitchFamily="34" charset="0"/>
              </a:rPr>
              <a:t>TinyReptile</a:t>
            </a:r>
            <a:r>
              <a:rPr lang="en-US" altLang="en-US" sz="1800" dirty="0">
                <a:latin typeface="Arial" panose="020B0604020202020204" pitchFamily="34" charset="0"/>
              </a:rPr>
              <a:t> uses an "online learning" approach. The microcontroller processes incoming sensor data point-by-point in a continuous stream, updating the model and immediately discarding the raw data.</a:t>
            </a:r>
          </a:p>
        </p:txBody>
      </p:sp>
    </p:spTree>
    <p:extLst>
      <p:ext uri="{BB962C8B-B14F-4D97-AF65-F5344CB8AC3E}">
        <p14:creationId xmlns:p14="http://schemas.microsoft.com/office/powerpoint/2010/main" val="3601256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a:xfrm>
            <a:off x="789432" y="0"/>
            <a:ext cx="10515600" cy="1325563"/>
          </a:xfrm>
        </p:spPr>
        <p:txBody>
          <a:bodyPr>
            <a:normAutofit/>
          </a:bodyPr>
          <a:lstStyle/>
          <a:p>
            <a:r>
              <a:rPr lang="en-US" dirty="0"/>
              <a:t>Paper8 : </a:t>
            </a:r>
            <a:r>
              <a:rPr lang="en-US" dirty="0" err="1"/>
              <a:t>TinyReptile</a:t>
            </a:r>
            <a:endParaRPr lang="en-US" dirty="0"/>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7F89B56B-FCB4-4F55-8F24-C27CBC7F2D78}"/>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D9DE12E1-71B3-4FF3-8D80-DB0615AB9E02}"/>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3">
            <a:extLst>
              <a:ext uri="{FF2B5EF4-FFF2-40B4-BE49-F238E27FC236}">
                <a16:creationId xmlns:a16="http://schemas.microsoft.com/office/drawing/2014/main" id="{CCCD09B0-DF6F-47F7-B00F-27127C507734}"/>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1">
            <a:extLst>
              <a:ext uri="{FF2B5EF4-FFF2-40B4-BE49-F238E27FC236}">
                <a16:creationId xmlns:a16="http://schemas.microsoft.com/office/drawing/2014/main" id="{955730B3-AC8D-4ACD-8984-7EAD949DC452}"/>
              </a:ext>
            </a:extLst>
          </p:cNvPr>
          <p:cNvSpPr>
            <a:spLocks noGrp="1" noChangeArrowheads="1"/>
          </p:cNvSpPr>
          <p:nvPr>
            <p:ph idx="1"/>
          </p:nvPr>
        </p:nvSpPr>
        <p:spPr bwMode="auto">
          <a:xfrm flipH="1">
            <a:off x="337488" y="961422"/>
            <a:ext cx="11038724"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sz="1800" b="1" dirty="0">
                <a:latin typeface="Arial" panose="020B0604020202020204" pitchFamily="34" charset="0"/>
              </a:rPr>
              <a:t>The Core Problem:</a:t>
            </a:r>
            <a:r>
              <a:rPr lang="en-US" altLang="en-US" sz="1800" dirty="0">
                <a:latin typeface="Arial" panose="020B0604020202020204" pitchFamily="34" charset="0"/>
              </a:rPr>
              <a:t> While </a:t>
            </a:r>
            <a:r>
              <a:rPr lang="en-US" altLang="en-US" sz="1800" dirty="0" err="1">
                <a:latin typeface="Arial" panose="020B0604020202020204" pitchFamily="34" charset="0"/>
              </a:rPr>
              <a:t>TinyReptile</a:t>
            </a:r>
            <a:r>
              <a:rPr lang="en-US" altLang="en-US" sz="1800" dirty="0">
                <a:latin typeface="Arial" panose="020B0604020202020204" pitchFamily="34" charset="0"/>
              </a:rPr>
              <a:t> solves the </a:t>
            </a:r>
            <a:r>
              <a:rPr lang="en-US" altLang="en-US" sz="1800" i="1" dirty="0">
                <a:latin typeface="Arial" panose="020B0604020202020204" pitchFamily="34" charset="0"/>
              </a:rPr>
              <a:t>memory</a:t>
            </a:r>
            <a:r>
              <a:rPr lang="en-US" altLang="en-US" sz="1800" dirty="0">
                <a:latin typeface="Arial" panose="020B0604020202020204" pitchFamily="34" charset="0"/>
              </a:rPr>
              <a:t> problem, it still requires sending the entire neural network back and forth across the network, creating massive communication overhead and draining battery life.</a:t>
            </a:r>
          </a:p>
          <a:p>
            <a:pPr eaLnBrk="0" fontAlgn="base" hangingPunct="0">
              <a:lnSpc>
                <a:spcPct val="100000"/>
              </a:lnSpc>
              <a:spcBef>
                <a:spcPct val="0"/>
              </a:spcBef>
              <a:spcAft>
                <a:spcPct val="0"/>
              </a:spcAft>
            </a:pPr>
            <a:r>
              <a:rPr lang="en-US" altLang="en-US" sz="1800" b="1" dirty="0">
                <a:latin typeface="Arial" panose="020B0604020202020204" pitchFamily="34" charset="0"/>
              </a:rPr>
              <a:t>The Solution:</a:t>
            </a:r>
            <a:r>
              <a:rPr lang="en-US" altLang="en-US" sz="1800" dirty="0">
                <a:latin typeface="Arial" panose="020B0604020202020204" pitchFamily="34" charset="0"/>
              </a:rPr>
              <a:t> Tiny </a:t>
            </a:r>
            <a:r>
              <a:rPr lang="en-US" altLang="en-US" sz="1800" dirty="0" err="1">
                <a:latin typeface="Arial" panose="020B0604020202020204" pitchFamily="34" charset="0"/>
              </a:rPr>
              <a:t>MetaFed</a:t>
            </a:r>
            <a:r>
              <a:rPr lang="en-US" altLang="en-US" sz="1800" dirty="0">
                <a:latin typeface="Arial" panose="020B0604020202020204" pitchFamily="34" charset="0"/>
              </a:rPr>
              <a:t> builds on </a:t>
            </a:r>
            <a:r>
              <a:rPr lang="en-US" altLang="en-US" sz="1800" dirty="0" err="1">
                <a:latin typeface="Arial" panose="020B0604020202020204" pitchFamily="34" charset="0"/>
              </a:rPr>
              <a:t>TinyReptile</a:t>
            </a:r>
            <a:r>
              <a:rPr lang="en-US" altLang="en-US" sz="1800" dirty="0">
                <a:latin typeface="Arial" panose="020B0604020202020204" pitchFamily="34" charset="0"/>
              </a:rPr>
              <a:t> but aggressively targets network congestion by stripping down the communication payload.</a:t>
            </a:r>
          </a:p>
          <a:p>
            <a:pPr eaLnBrk="0" fontAlgn="base" hangingPunct="0">
              <a:lnSpc>
                <a:spcPct val="100000"/>
              </a:lnSpc>
              <a:spcBef>
                <a:spcPct val="0"/>
              </a:spcBef>
              <a:spcAft>
                <a:spcPct val="0"/>
              </a:spcAft>
            </a:pPr>
            <a:r>
              <a:rPr lang="en-US" altLang="en-US" sz="1800" b="1" dirty="0">
                <a:latin typeface="Arial" panose="020B0604020202020204" pitchFamily="34" charset="0"/>
              </a:rPr>
              <a:t>Partial Local Reconstruction:</a:t>
            </a:r>
            <a:r>
              <a:rPr lang="en-US" altLang="en-US" sz="1800" dirty="0">
                <a:latin typeface="Arial" panose="020B0604020202020204" pitchFamily="34" charset="0"/>
              </a:rPr>
              <a:t> The neural network is split into "global" and "local" weights. The local weights are permanently frozen on the device to protect privacy and reduce upload size, while only the global weights are actively trained and shared.</a:t>
            </a:r>
          </a:p>
          <a:p>
            <a:pPr eaLnBrk="0" fontAlgn="base" hangingPunct="0">
              <a:lnSpc>
                <a:spcPct val="100000"/>
              </a:lnSpc>
              <a:spcBef>
                <a:spcPct val="0"/>
              </a:spcBef>
              <a:spcAft>
                <a:spcPct val="0"/>
              </a:spcAft>
            </a:pPr>
            <a:r>
              <a:rPr lang="en-US" altLang="en-US" sz="1800" b="1" dirty="0">
                <a:latin typeface="Arial" panose="020B0604020202020204" pitchFamily="34" charset="0"/>
              </a:rPr>
              <a:t>Top-P% Selective Communication:</a:t>
            </a:r>
            <a:r>
              <a:rPr lang="en-US" altLang="en-US" sz="1800" dirty="0">
                <a:latin typeface="Arial" panose="020B0604020202020204" pitchFamily="34" charset="0"/>
              </a:rPr>
              <a:t> When sending updates to the server, the IoT node calculates which global weights changed the most. It exclusively transmits the Top-P% of those weights, leaving the rest behind.</a:t>
            </a:r>
          </a:p>
        </p:txBody>
      </p:sp>
    </p:spTree>
    <p:extLst>
      <p:ext uri="{BB962C8B-B14F-4D97-AF65-F5344CB8AC3E}">
        <p14:creationId xmlns:p14="http://schemas.microsoft.com/office/powerpoint/2010/main" val="40277251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a:xfrm>
            <a:off x="789432" y="0"/>
            <a:ext cx="10515600" cy="1325563"/>
          </a:xfrm>
        </p:spPr>
        <p:txBody>
          <a:bodyPr>
            <a:normAutofit/>
          </a:bodyPr>
          <a:lstStyle/>
          <a:p>
            <a:r>
              <a:rPr lang="en-US" dirty="0"/>
              <a:t>Paper8 : </a:t>
            </a:r>
            <a:r>
              <a:rPr lang="en-US" dirty="0" err="1"/>
              <a:t>TinyMetaFed</a:t>
            </a:r>
            <a:endParaRPr lang="en-US" dirty="0"/>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7F89B56B-FCB4-4F55-8F24-C27CBC7F2D78}"/>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D9DE12E1-71B3-4FF3-8D80-DB0615AB9E02}"/>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3">
            <a:extLst>
              <a:ext uri="{FF2B5EF4-FFF2-40B4-BE49-F238E27FC236}">
                <a16:creationId xmlns:a16="http://schemas.microsoft.com/office/drawing/2014/main" id="{CCCD09B0-DF6F-47F7-B00F-27127C507734}"/>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1">
            <a:extLst>
              <a:ext uri="{FF2B5EF4-FFF2-40B4-BE49-F238E27FC236}">
                <a16:creationId xmlns:a16="http://schemas.microsoft.com/office/drawing/2014/main" id="{955730B3-AC8D-4ACD-8984-7EAD949DC452}"/>
              </a:ext>
            </a:extLst>
          </p:cNvPr>
          <p:cNvSpPr>
            <a:spLocks noGrp="1" noChangeArrowheads="1"/>
          </p:cNvSpPr>
          <p:nvPr>
            <p:ph idx="1"/>
          </p:nvPr>
        </p:nvSpPr>
        <p:spPr bwMode="auto">
          <a:xfrm flipH="1">
            <a:off x="337488" y="961422"/>
            <a:ext cx="11038724"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sz="1800" b="1" dirty="0">
                <a:latin typeface="Arial" panose="020B0604020202020204" pitchFamily="34" charset="0"/>
              </a:rPr>
              <a:t>The Core Problem:</a:t>
            </a:r>
            <a:r>
              <a:rPr lang="en-US" altLang="en-US" sz="1800" dirty="0">
                <a:latin typeface="Arial" panose="020B0604020202020204" pitchFamily="34" charset="0"/>
              </a:rPr>
              <a:t> While </a:t>
            </a:r>
            <a:r>
              <a:rPr lang="en-US" altLang="en-US" sz="1800" dirty="0" err="1">
                <a:latin typeface="Arial" panose="020B0604020202020204" pitchFamily="34" charset="0"/>
              </a:rPr>
              <a:t>TinyReptile</a:t>
            </a:r>
            <a:r>
              <a:rPr lang="en-US" altLang="en-US" sz="1800" dirty="0">
                <a:latin typeface="Arial" panose="020B0604020202020204" pitchFamily="34" charset="0"/>
              </a:rPr>
              <a:t> solves the </a:t>
            </a:r>
            <a:r>
              <a:rPr lang="en-US" altLang="en-US" sz="1800" i="1" dirty="0">
                <a:latin typeface="Arial" panose="020B0604020202020204" pitchFamily="34" charset="0"/>
              </a:rPr>
              <a:t>memory</a:t>
            </a:r>
            <a:r>
              <a:rPr lang="en-US" altLang="en-US" sz="1800" dirty="0">
                <a:latin typeface="Arial" panose="020B0604020202020204" pitchFamily="34" charset="0"/>
              </a:rPr>
              <a:t> problem, it still requires sending the entire neural network back and forth across the network, creating massive communication overhead and draining battery life.</a:t>
            </a:r>
          </a:p>
          <a:p>
            <a:pPr eaLnBrk="0" fontAlgn="base" hangingPunct="0">
              <a:lnSpc>
                <a:spcPct val="100000"/>
              </a:lnSpc>
              <a:spcBef>
                <a:spcPct val="0"/>
              </a:spcBef>
              <a:spcAft>
                <a:spcPct val="0"/>
              </a:spcAft>
            </a:pPr>
            <a:r>
              <a:rPr lang="en-US" altLang="en-US" sz="1800" b="1" dirty="0">
                <a:latin typeface="Arial" panose="020B0604020202020204" pitchFamily="34" charset="0"/>
              </a:rPr>
              <a:t>The Solution:</a:t>
            </a:r>
            <a:r>
              <a:rPr lang="en-US" altLang="en-US" sz="1800" dirty="0">
                <a:latin typeface="Arial" panose="020B0604020202020204" pitchFamily="34" charset="0"/>
              </a:rPr>
              <a:t> Tiny </a:t>
            </a:r>
            <a:r>
              <a:rPr lang="en-US" altLang="en-US" sz="1800" dirty="0" err="1">
                <a:latin typeface="Arial" panose="020B0604020202020204" pitchFamily="34" charset="0"/>
              </a:rPr>
              <a:t>MetaFed</a:t>
            </a:r>
            <a:r>
              <a:rPr lang="en-US" altLang="en-US" sz="1800" dirty="0">
                <a:latin typeface="Arial" panose="020B0604020202020204" pitchFamily="34" charset="0"/>
              </a:rPr>
              <a:t> builds on </a:t>
            </a:r>
            <a:r>
              <a:rPr lang="en-US" altLang="en-US" sz="1800" dirty="0" err="1">
                <a:latin typeface="Arial" panose="020B0604020202020204" pitchFamily="34" charset="0"/>
              </a:rPr>
              <a:t>TinyReptile</a:t>
            </a:r>
            <a:r>
              <a:rPr lang="en-US" altLang="en-US" sz="1800" dirty="0">
                <a:latin typeface="Arial" panose="020B0604020202020204" pitchFamily="34" charset="0"/>
              </a:rPr>
              <a:t> but aggressively targets network congestion by stripping down the communication payload.</a:t>
            </a:r>
          </a:p>
          <a:p>
            <a:pPr eaLnBrk="0" fontAlgn="base" hangingPunct="0">
              <a:lnSpc>
                <a:spcPct val="100000"/>
              </a:lnSpc>
              <a:spcBef>
                <a:spcPct val="0"/>
              </a:spcBef>
              <a:spcAft>
                <a:spcPct val="0"/>
              </a:spcAft>
            </a:pPr>
            <a:r>
              <a:rPr lang="en-US" altLang="en-US" sz="1800" b="1" dirty="0">
                <a:latin typeface="Arial" panose="020B0604020202020204" pitchFamily="34" charset="0"/>
              </a:rPr>
              <a:t>Partial Local Reconstruction:</a:t>
            </a:r>
            <a:r>
              <a:rPr lang="en-US" altLang="en-US" sz="1800" dirty="0">
                <a:latin typeface="Arial" panose="020B0604020202020204" pitchFamily="34" charset="0"/>
              </a:rPr>
              <a:t> The neural network is split into "global" and "local" weights. The local weights are permanently frozen on the device to protect privacy and reduce upload size, while only the global weights are actively trained and shared.</a:t>
            </a:r>
          </a:p>
          <a:p>
            <a:pPr eaLnBrk="0" fontAlgn="base" hangingPunct="0">
              <a:lnSpc>
                <a:spcPct val="100000"/>
              </a:lnSpc>
              <a:spcBef>
                <a:spcPct val="0"/>
              </a:spcBef>
              <a:spcAft>
                <a:spcPct val="0"/>
              </a:spcAft>
            </a:pPr>
            <a:r>
              <a:rPr lang="en-US" altLang="en-US" sz="1800" b="1" dirty="0">
                <a:latin typeface="Arial" panose="020B0604020202020204" pitchFamily="34" charset="0"/>
              </a:rPr>
              <a:t>Top-P% Selective Communication:</a:t>
            </a:r>
            <a:r>
              <a:rPr lang="en-US" altLang="en-US" sz="1800" dirty="0">
                <a:latin typeface="Arial" panose="020B0604020202020204" pitchFamily="34" charset="0"/>
              </a:rPr>
              <a:t> When sending updates to the server, the IoT node calculates which global weights changed the most. It exclusively transmits the Top-P% of those weights, leaving the rest behind.</a:t>
            </a:r>
          </a:p>
        </p:txBody>
      </p:sp>
    </p:spTree>
    <p:extLst>
      <p:ext uri="{BB962C8B-B14F-4D97-AF65-F5344CB8AC3E}">
        <p14:creationId xmlns:p14="http://schemas.microsoft.com/office/powerpoint/2010/main" val="3277465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a:xfrm>
            <a:off x="789432" y="0"/>
            <a:ext cx="10515600" cy="1325563"/>
          </a:xfrm>
        </p:spPr>
        <p:txBody>
          <a:bodyPr>
            <a:normAutofit/>
          </a:bodyPr>
          <a:lstStyle/>
          <a:p>
            <a:r>
              <a:rPr lang="en-US" dirty="0"/>
              <a:t>Paper8 and 9 </a:t>
            </a:r>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7F89B56B-FCB4-4F55-8F24-C27CBC7F2D78}"/>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D9DE12E1-71B3-4FF3-8D80-DB0615AB9E02}"/>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3">
            <a:extLst>
              <a:ext uri="{FF2B5EF4-FFF2-40B4-BE49-F238E27FC236}">
                <a16:creationId xmlns:a16="http://schemas.microsoft.com/office/drawing/2014/main" id="{CCCD09B0-DF6F-47F7-B00F-27127C507734}"/>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804BB203-F52D-4D94-B192-1577C96B30CE}"/>
              </a:ext>
            </a:extLst>
          </p:cNvPr>
          <p:cNvGraphicFramePr>
            <a:graphicFrameLocks noGrp="1"/>
          </p:cNvGraphicFramePr>
          <p:nvPr>
            <p:extLst>
              <p:ext uri="{D42A27DB-BD31-4B8C-83A1-F6EECF244321}">
                <p14:modId xmlns:p14="http://schemas.microsoft.com/office/powerpoint/2010/main" val="214044487"/>
              </p:ext>
            </p:extLst>
          </p:nvPr>
        </p:nvGraphicFramePr>
        <p:xfrm>
          <a:off x="1157803" y="1816298"/>
          <a:ext cx="9876393" cy="4367122"/>
        </p:xfrm>
        <a:graphic>
          <a:graphicData uri="http://schemas.openxmlformats.org/drawingml/2006/table">
            <a:tbl>
              <a:tblPr/>
              <a:tblGrid>
                <a:gridCol w="3292131">
                  <a:extLst>
                    <a:ext uri="{9D8B030D-6E8A-4147-A177-3AD203B41FA5}">
                      <a16:colId xmlns:a16="http://schemas.microsoft.com/office/drawing/2014/main" val="2030655750"/>
                    </a:ext>
                  </a:extLst>
                </a:gridCol>
                <a:gridCol w="3292131">
                  <a:extLst>
                    <a:ext uri="{9D8B030D-6E8A-4147-A177-3AD203B41FA5}">
                      <a16:colId xmlns:a16="http://schemas.microsoft.com/office/drawing/2014/main" val="4259211024"/>
                    </a:ext>
                  </a:extLst>
                </a:gridCol>
                <a:gridCol w="3292131">
                  <a:extLst>
                    <a:ext uri="{9D8B030D-6E8A-4147-A177-3AD203B41FA5}">
                      <a16:colId xmlns:a16="http://schemas.microsoft.com/office/drawing/2014/main" val="401281350"/>
                    </a:ext>
                  </a:extLst>
                </a:gridCol>
              </a:tblGrid>
              <a:tr h="400781">
                <a:tc>
                  <a:txBody>
                    <a:bodyPr/>
                    <a:lstStyle/>
                    <a:p>
                      <a:pPr rtl="0"/>
                      <a:r>
                        <a:rPr lang="en-US" sz="1700" b="1">
                          <a:solidFill>
                            <a:srgbClr val="1F1F1F"/>
                          </a:solidFill>
                          <a:effectLst/>
                          <a:latin typeface="Google Sans Text"/>
                        </a:rPr>
                        <a:t>Feature</a:t>
                      </a:r>
                      <a:endParaRPr lang="en-US" sz="1700">
                        <a:solidFill>
                          <a:srgbClr val="1F1F1F"/>
                        </a:solidFill>
                        <a:effectLst/>
                        <a:latin typeface="Google Sans Text"/>
                      </a:endParaRP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b="1">
                          <a:solidFill>
                            <a:srgbClr val="1F1F1F"/>
                          </a:solidFill>
                          <a:effectLst/>
                          <a:latin typeface="Google Sans Text"/>
                        </a:rPr>
                        <a:t>TinyReptile</a:t>
                      </a:r>
                      <a:endParaRPr lang="en-US" sz="1700">
                        <a:solidFill>
                          <a:srgbClr val="1F1F1F"/>
                        </a:solidFill>
                        <a:effectLst/>
                        <a:latin typeface="Google Sans Text"/>
                      </a:endParaRP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b="1">
                          <a:solidFill>
                            <a:srgbClr val="1F1F1F"/>
                          </a:solidFill>
                          <a:effectLst/>
                          <a:latin typeface="Google Sans Text"/>
                        </a:rPr>
                        <a:t>Tiny MetaFed</a:t>
                      </a:r>
                      <a:endParaRPr lang="en-US" sz="1700">
                        <a:solidFill>
                          <a:srgbClr val="1F1F1F"/>
                        </a:solidFill>
                        <a:effectLst/>
                        <a:latin typeface="Google Sans Text"/>
                      </a:endParaRP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60907504"/>
                  </a:ext>
                </a:extLst>
              </a:tr>
              <a:tr h="658426">
                <a:tc>
                  <a:txBody>
                    <a:bodyPr/>
                    <a:lstStyle/>
                    <a:p>
                      <a:pPr rtl="0"/>
                      <a:r>
                        <a:rPr lang="en-US" sz="1700" b="1">
                          <a:solidFill>
                            <a:srgbClr val="1F1F1F"/>
                          </a:solidFill>
                          <a:effectLst/>
                          <a:latin typeface="Google Sans Text"/>
                        </a:rPr>
                        <a:t>Primary Goal</a:t>
                      </a:r>
                      <a:endParaRPr lang="en-US" sz="1700">
                        <a:solidFill>
                          <a:srgbClr val="1F1F1F"/>
                        </a:solidFill>
                        <a:effectLst/>
                        <a:latin typeface="Google Sans Text"/>
                      </a:endParaRP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dirty="0">
                          <a:solidFill>
                            <a:srgbClr val="1F1F1F"/>
                          </a:solidFill>
                          <a:effectLst/>
                          <a:latin typeface="Google Sans Text"/>
                        </a:rPr>
                        <a:t>Enable meta-learning on constrained RAM.</a:t>
                      </a: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dirty="0">
                          <a:solidFill>
                            <a:srgbClr val="1F1F1F"/>
                          </a:solidFill>
                          <a:effectLst/>
                          <a:latin typeface="Google Sans Text"/>
                        </a:rPr>
                        <a:t>Drastically reduce communication overhead.</a:t>
                      </a: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757257986"/>
                  </a:ext>
                </a:extLst>
              </a:tr>
              <a:tr h="658426">
                <a:tc>
                  <a:txBody>
                    <a:bodyPr/>
                    <a:lstStyle/>
                    <a:p>
                      <a:pPr rtl="0"/>
                      <a:r>
                        <a:rPr lang="en-US" sz="1700" b="1" dirty="0">
                          <a:solidFill>
                            <a:srgbClr val="1F1F1F"/>
                          </a:solidFill>
                          <a:effectLst/>
                          <a:latin typeface="Google Sans Text"/>
                        </a:rPr>
                        <a:t>Memory Strategy</a:t>
                      </a:r>
                      <a:endParaRPr lang="en-US" sz="1700" dirty="0">
                        <a:solidFill>
                          <a:srgbClr val="1F1F1F"/>
                        </a:solidFill>
                        <a:effectLst/>
                        <a:latin typeface="Google Sans Text"/>
                      </a:endParaRP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dirty="0">
                          <a:solidFill>
                            <a:srgbClr val="1F1F1F"/>
                          </a:solidFill>
                          <a:effectLst/>
                          <a:latin typeface="Google Sans Text"/>
                        </a:rPr>
                        <a:t>Online Learning</a:t>
                      </a: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Online Learning.</a:t>
                      </a: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466217251"/>
                  </a:ext>
                </a:extLst>
              </a:tr>
              <a:tr h="658426">
                <a:tc>
                  <a:txBody>
                    <a:bodyPr/>
                    <a:lstStyle/>
                    <a:p>
                      <a:pPr rtl="0"/>
                      <a:r>
                        <a:rPr lang="en-US" sz="1700" b="1">
                          <a:solidFill>
                            <a:srgbClr val="1F1F1F"/>
                          </a:solidFill>
                          <a:effectLst/>
                          <a:latin typeface="Google Sans Text"/>
                        </a:rPr>
                        <a:t>Payload Size</a:t>
                      </a:r>
                      <a:endParaRPr lang="en-US" sz="1700">
                        <a:solidFill>
                          <a:srgbClr val="1F1F1F"/>
                        </a:solidFill>
                        <a:effectLst/>
                        <a:latin typeface="Google Sans Text"/>
                      </a:endParaRP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dirty="0">
                          <a:solidFill>
                            <a:srgbClr val="1F1F1F"/>
                          </a:solidFill>
                          <a:effectLst/>
                          <a:latin typeface="Google Sans Text"/>
                        </a:rPr>
                        <a:t>Transmits 100% of the model weights per round.</a:t>
                      </a: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Transmits a tiny fraction (Top-P% of global weights).</a:t>
                      </a: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114198656"/>
                  </a:ext>
                </a:extLst>
              </a:tr>
              <a:tr h="658426">
                <a:tc>
                  <a:txBody>
                    <a:bodyPr/>
                    <a:lstStyle/>
                    <a:p>
                      <a:pPr rtl="0"/>
                      <a:r>
                        <a:rPr lang="en-US" sz="1700" b="1">
                          <a:solidFill>
                            <a:srgbClr val="1F1F1F"/>
                          </a:solidFill>
                          <a:effectLst/>
                          <a:latin typeface="Google Sans Text"/>
                        </a:rPr>
                        <a:t>Energy Efficiency</a:t>
                      </a:r>
                      <a:endParaRPr lang="en-US" sz="1700">
                        <a:solidFill>
                          <a:srgbClr val="1F1F1F"/>
                        </a:solidFill>
                        <a:effectLst/>
                        <a:latin typeface="Google Sans Text"/>
                      </a:endParaRP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dirty="0">
                          <a:solidFill>
                            <a:srgbClr val="1F1F1F"/>
                          </a:solidFill>
                          <a:effectLst/>
                          <a:latin typeface="Google Sans Text"/>
                        </a:rPr>
                        <a:t>Higher battery drain due to full-model transmission.</a:t>
                      </a: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Cuts energy consumption by ~50%.</a:t>
                      </a: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162608002"/>
                  </a:ext>
                </a:extLst>
              </a:tr>
              <a:tr h="658426">
                <a:tc>
                  <a:txBody>
                    <a:bodyPr/>
                    <a:lstStyle/>
                    <a:p>
                      <a:pPr rtl="0"/>
                      <a:r>
                        <a:rPr lang="en-US" sz="1700" b="1">
                          <a:solidFill>
                            <a:srgbClr val="1F1F1F"/>
                          </a:solidFill>
                          <a:effectLst/>
                          <a:latin typeface="Google Sans Text"/>
                        </a:rPr>
                        <a:t>Network Congestion</a:t>
                      </a:r>
                      <a:endParaRPr lang="en-US" sz="1700">
                        <a:solidFill>
                          <a:srgbClr val="1F1F1F"/>
                        </a:solidFill>
                        <a:effectLst/>
                        <a:latin typeface="Google Sans Text"/>
                      </a:endParaRP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dirty="0">
                          <a:solidFill>
                            <a:srgbClr val="1F1F1F"/>
                          </a:solidFill>
                          <a:effectLst/>
                          <a:latin typeface="Google Sans Text"/>
                        </a:rPr>
                        <a:t>Heavier; difficult to scale with extra protocol overhead.</a:t>
                      </a: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Up to 70% reduction in communication costs.</a:t>
                      </a: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802600736"/>
                  </a:ext>
                </a:extLst>
              </a:tr>
              <a:tr h="658426">
                <a:tc>
                  <a:txBody>
                    <a:bodyPr/>
                    <a:lstStyle/>
                    <a:p>
                      <a:pPr rtl="0"/>
                      <a:r>
                        <a:rPr lang="en-US" sz="1700" b="1">
                          <a:solidFill>
                            <a:srgbClr val="1F1F1F"/>
                          </a:solidFill>
                          <a:effectLst/>
                          <a:latin typeface="Google Sans Text"/>
                        </a:rPr>
                        <a:t>Convergence Strategy</a:t>
                      </a:r>
                      <a:endParaRPr lang="en-US" sz="1700">
                        <a:solidFill>
                          <a:srgbClr val="1F1F1F"/>
                        </a:solidFill>
                        <a:effectLst/>
                        <a:latin typeface="Google Sans Text"/>
                      </a:endParaRP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a:solidFill>
                            <a:srgbClr val="1F1F1F"/>
                          </a:solidFill>
                          <a:effectLst/>
                          <a:latin typeface="Google Sans Text"/>
                        </a:rPr>
                        <a:t>Standard averaging.</a:t>
                      </a: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tc>
                  <a:txBody>
                    <a:bodyPr/>
                    <a:lstStyle/>
                    <a:p>
                      <a:pPr rtl="0"/>
                      <a:r>
                        <a:rPr lang="en-US" sz="1700" dirty="0">
                          <a:solidFill>
                            <a:srgbClr val="1F1F1F"/>
                          </a:solidFill>
                          <a:effectLst/>
                          <a:latin typeface="Google Sans Text"/>
                        </a:rPr>
                        <a:t>Cosine Annealing learning rate schedule for stable aggregation.</a:t>
                      </a:r>
                    </a:p>
                  </a:txBody>
                  <a:tcPr marL="107352" marR="107352" marT="71568" marB="71568"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903710385"/>
                  </a:ext>
                </a:extLst>
              </a:tr>
            </a:tbl>
          </a:graphicData>
        </a:graphic>
      </p:graphicFrame>
    </p:spTree>
    <p:extLst>
      <p:ext uri="{BB962C8B-B14F-4D97-AF65-F5344CB8AC3E}">
        <p14:creationId xmlns:p14="http://schemas.microsoft.com/office/powerpoint/2010/main" val="29734017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a:xfrm>
            <a:off x="789432" y="0"/>
            <a:ext cx="10515600" cy="1325563"/>
          </a:xfrm>
        </p:spPr>
        <p:txBody>
          <a:bodyPr>
            <a:normAutofit/>
          </a:bodyPr>
          <a:lstStyle/>
          <a:p>
            <a:r>
              <a:rPr lang="en-US" dirty="0"/>
              <a:t>Crash course extra knowledge </a:t>
            </a:r>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0CFE2D20-F588-42D9-939F-014E5367703B}"/>
              </a:ext>
            </a:extLst>
          </p:cNvPr>
          <p:cNvSpPr>
            <a:spLocks noGrp="1" noChangeArrowheads="1"/>
          </p:cNvSpPr>
          <p:nvPr>
            <p:ph idx="1"/>
          </p:nvPr>
        </p:nvSpPr>
        <p:spPr bwMode="auto">
          <a:xfrm>
            <a:off x="789432" y="1227528"/>
            <a:ext cx="10977282" cy="5305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1400" b="1" dirty="0"/>
              <a:t> Tuning Hyperparameters</a:t>
            </a:r>
          </a:p>
          <a:p>
            <a:pPr lvl="1"/>
            <a:r>
              <a:rPr lang="en-US" sz="1400" dirty="0"/>
              <a:t>Tuning a federated network is vastly from tuning a centralized model because the network itself is a variable.</a:t>
            </a:r>
          </a:p>
          <a:p>
            <a:pPr lvl="1"/>
            <a:r>
              <a:rPr lang="en-US" sz="1400" b="1" dirty="0"/>
              <a:t>Balancing the Workload:</a:t>
            </a:r>
            <a:r>
              <a:rPr lang="en-US" sz="1400" dirty="0"/>
              <a:t> The key parameters to tune are the fraction of participating clients per round, the number of local epochs, and the local batch size.</a:t>
            </a:r>
          </a:p>
          <a:p>
            <a:pPr marL="0" lvl="0" indent="0" eaLnBrk="0" fontAlgn="base" hangingPunct="0">
              <a:lnSpc>
                <a:spcPct val="100000"/>
              </a:lnSpc>
              <a:spcBef>
                <a:spcPct val="0"/>
              </a:spcBef>
              <a:spcAft>
                <a:spcPct val="0"/>
              </a:spcAft>
              <a:buNone/>
            </a:pPr>
            <a:r>
              <a:rPr lang="en-US" altLang="en-US" sz="1400" b="1" dirty="0">
                <a:latin typeface="Arial" panose="020B0604020202020204" pitchFamily="34" charset="0"/>
              </a:rPr>
              <a:t>Federated Learning alone does not guarantee absolute privacy.</a:t>
            </a:r>
            <a:r>
              <a:rPr lang="en-US" altLang="en-US" sz="1400" dirty="0">
                <a:latin typeface="Arial" panose="020B0604020202020204" pitchFamily="34" charset="0"/>
              </a:rPr>
              <a:t> While it acts as a strong data minimization technique by keeping raw data local, the model weights themselves can still leak sensitive information through "model inversion" attacks.</a:t>
            </a:r>
          </a:p>
          <a:p>
            <a:pPr marL="0" lvl="0" indent="0" eaLnBrk="0" fontAlgn="base" hangingPunct="0">
              <a:lnSpc>
                <a:spcPct val="100000"/>
              </a:lnSpc>
              <a:spcBef>
                <a:spcPct val="0"/>
              </a:spcBef>
              <a:spcAft>
                <a:spcPct val="0"/>
              </a:spcAft>
              <a:buFontTx/>
              <a:buChar char="•"/>
            </a:pPr>
            <a:r>
              <a:rPr lang="en-US" altLang="en-US" sz="1400" b="1" dirty="0">
                <a:latin typeface="Arial" panose="020B0604020202020204" pitchFamily="34" charset="0"/>
              </a:rPr>
              <a:t>Differential Privacy (DP):</a:t>
            </a:r>
            <a:r>
              <a:rPr lang="en-US" altLang="en-US" sz="1400" dirty="0">
                <a:latin typeface="Arial" panose="020B0604020202020204" pitchFamily="34" charset="0"/>
              </a:rPr>
              <a:t> FL must be combined with Differential Privacy, which protects individual data points using a dual approach:</a:t>
            </a:r>
          </a:p>
          <a:p>
            <a:pPr lvl="1" eaLnBrk="0" fontAlgn="base" hangingPunct="0">
              <a:lnSpc>
                <a:spcPct val="100000"/>
              </a:lnSpc>
              <a:spcBef>
                <a:spcPct val="0"/>
              </a:spcBef>
              <a:spcAft>
                <a:spcPct val="0"/>
              </a:spcAft>
            </a:pPr>
            <a:r>
              <a:rPr lang="en-US" altLang="en-US" sz="1400" b="1" dirty="0">
                <a:latin typeface="Arial" panose="020B0604020202020204" pitchFamily="34" charset="0"/>
              </a:rPr>
              <a:t>Clipping:</a:t>
            </a:r>
            <a:r>
              <a:rPr lang="en-US" altLang="en-US" sz="1400" dirty="0">
                <a:latin typeface="Arial" panose="020B0604020202020204" pitchFamily="34" charset="0"/>
              </a:rPr>
              <a:t> Bounding the sensitivity of the model updates to mitigate the impact of outliers (ensuring one user's unique data doesn't drastically swing the weights).</a:t>
            </a:r>
          </a:p>
          <a:p>
            <a:pPr lvl="1" eaLnBrk="0" fontAlgn="base" hangingPunct="0">
              <a:lnSpc>
                <a:spcPct val="100000"/>
              </a:lnSpc>
              <a:spcBef>
                <a:spcPct val="0"/>
              </a:spcBef>
              <a:spcAft>
                <a:spcPct val="0"/>
              </a:spcAft>
            </a:pPr>
            <a:r>
              <a:rPr lang="en-US" altLang="en-US" sz="1400" b="1" dirty="0">
                <a:latin typeface="Arial" panose="020B0604020202020204" pitchFamily="34" charset="0"/>
              </a:rPr>
              <a:t>Noising:</a:t>
            </a:r>
            <a:r>
              <a:rPr lang="en-US" altLang="en-US" sz="1400" dirty="0">
                <a:latin typeface="Arial" panose="020B0604020202020204" pitchFamily="34" charset="0"/>
              </a:rPr>
              <a:t> Adding calibrated mathematical noise to the model to obscure individual contributions.</a:t>
            </a:r>
          </a:p>
          <a:p>
            <a:pPr marL="0" lvl="0" indent="0" eaLnBrk="0" fontAlgn="base" hangingPunct="0">
              <a:lnSpc>
                <a:spcPct val="100000"/>
              </a:lnSpc>
              <a:spcBef>
                <a:spcPct val="0"/>
              </a:spcBef>
              <a:spcAft>
                <a:spcPct val="0"/>
              </a:spcAft>
              <a:buFontTx/>
              <a:buChar char="•"/>
            </a:pPr>
            <a:r>
              <a:rPr lang="en-US" altLang="en-US" sz="1400" b="1" dirty="0">
                <a:latin typeface="Arial" panose="020B0604020202020204" pitchFamily="34" charset="0"/>
              </a:rPr>
              <a:t>Central vs. Local DP:</a:t>
            </a:r>
            <a:r>
              <a:rPr lang="en-US" altLang="en-US" sz="1400" dirty="0">
                <a:latin typeface="Arial" panose="020B0604020202020204" pitchFamily="34" charset="0"/>
              </a:rPr>
              <a:t> In </a:t>
            </a:r>
            <a:r>
              <a:rPr lang="en-US" altLang="en-US" sz="1400" i="1" dirty="0">
                <a:latin typeface="Arial" panose="020B0604020202020204" pitchFamily="34" charset="0"/>
              </a:rPr>
              <a:t>Central DP</a:t>
            </a:r>
            <a:r>
              <a:rPr lang="en-US" altLang="en-US" sz="1400" dirty="0">
                <a:latin typeface="Arial" panose="020B0604020202020204" pitchFamily="34" charset="0"/>
              </a:rPr>
              <a:t>, the server adds the noise after aggregation. In </a:t>
            </a:r>
            <a:r>
              <a:rPr lang="en-US" altLang="en-US" sz="1400" i="1" dirty="0">
                <a:latin typeface="Arial" panose="020B0604020202020204" pitchFamily="34" charset="0"/>
              </a:rPr>
              <a:t>Local DP</a:t>
            </a:r>
            <a:r>
              <a:rPr lang="en-US" altLang="en-US" sz="1400" dirty="0">
                <a:latin typeface="Arial" panose="020B0604020202020204" pitchFamily="34" charset="0"/>
              </a:rPr>
              <a:t>, the client adds noise </a:t>
            </a:r>
            <a:r>
              <a:rPr lang="en-US" altLang="en-US" sz="1400" i="1" dirty="0">
                <a:latin typeface="Arial" panose="020B0604020202020204" pitchFamily="34" charset="0"/>
              </a:rPr>
              <a:t>before</a:t>
            </a:r>
            <a:r>
              <a:rPr lang="en-US" altLang="en-US" sz="1400" dirty="0">
                <a:latin typeface="Arial" panose="020B0604020202020204" pitchFamily="34" charset="0"/>
              </a:rPr>
              <a:t> uploading its weights. For constrained IoT sensors, enforcing Local DP introduces computational overhead that must be carefully managed.</a:t>
            </a:r>
          </a:p>
          <a:p>
            <a:pPr marL="0" lvl="0" indent="0" eaLnBrk="0" fontAlgn="base" hangingPunct="0">
              <a:lnSpc>
                <a:spcPct val="100000"/>
              </a:lnSpc>
              <a:spcBef>
                <a:spcPct val="0"/>
              </a:spcBef>
              <a:spcAft>
                <a:spcPct val="0"/>
              </a:spcAft>
              <a:buNone/>
            </a:pPr>
            <a:endParaRPr lang="en-US" altLang="en-US" sz="1400" b="1" dirty="0">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sz="1400" b="1" dirty="0">
                <a:latin typeface="Arial" panose="020B0604020202020204" pitchFamily="34" charset="0"/>
              </a:rPr>
              <a:t>Bandwidth Management</a:t>
            </a:r>
          </a:p>
          <a:p>
            <a:pPr marL="0" lvl="0" indent="0" eaLnBrk="0" fontAlgn="base" hangingPunct="0">
              <a:lnSpc>
                <a:spcPct val="100000"/>
              </a:lnSpc>
              <a:spcBef>
                <a:spcPct val="0"/>
              </a:spcBef>
              <a:spcAft>
                <a:spcPct val="0"/>
              </a:spcAft>
              <a:buNone/>
            </a:pPr>
            <a:r>
              <a:rPr lang="en-US" altLang="en-US" sz="1400" dirty="0">
                <a:latin typeface="Arial" panose="020B0604020202020204" pitchFamily="34" charset="0"/>
              </a:rPr>
              <a:t>Bandwidth is the ultimate bottleneck in federated systems. The course introduces a concrete way to calculate the exact bandwidth cost of a network:</a:t>
            </a:r>
          </a:p>
          <a:p>
            <a:pPr marL="0" lvl="0" indent="0" eaLnBrk="0" fontAlgn="base" hangingPunct="0">
              <a:lnSpc>
                <a:spcPct val="100000"/>
              </a:lnSpc>
              <a:spcBef>
                <a:spcPct val="0"/>
              </a:spcBef>
              <a:spcAft>
                <a:spcPct val="0"/>
              </a:spcAft>
              <a:buNone/>
            </a:pPr>
            <a:r>
              <a:rPr lang="en-US" altLang="en-US" sz="1400" dirty="0">
                <a:latin typeface="Arial Unicode MS"/>
              </a:rPr>
              <a:t>Model Size (MB) × Number of Selected Clients × 2 (Upload + Download) × Number of Rounds = Total Bandwidth</a:t>
            </a:r>
            <a:endParaRPr lang="en-US" altLang="en-US" sz="1400" dirty="0"/>
          </a:p>
          <a:p>
            <a:pPr eaLnBrk="0" fontAlgn="base" hangingPunct="0">
              <a:lnSpc>
                <a:spcPct val="100000"/>
              </a:lnSpc>
              <a:spcBef>
                <a:spcPct val="0"/>
              </a:spcBef>
              <a:spcAft>
                <a:spcPct val="0"/>
              </a:spcAft>
            </a:pPr>
            <a:r>
              <a:rPr lang="en-US" altLang="en-US" sz="1400" b="1" dirty="0">
                <a:latin typeface="Arial" panose="020B0604020202020204" pitchFamily="34" charset="0"/>
              </a:rPr>
              <a:t>The Edge Bottleneck:</a:t>
            </a:r>
            <a:r>
              <a:rPr lang="en-US" altLang="en-US" sz="1400" dirty="0">
                <a:latin typeface="Arial" panose="020B0604020202020204" pitchFamily="34" charset="0"/>
              </a:rPr>
              <a:t> To put this in perspective, the </a:t>
            </a:r>
            <a:r>
              <a:rPr lang="en-US" altLang="en-US" sz="1400" dirty="0" err="1">
                <a:latin typeface="Arial" panose="020B0604020202020204" pitchFamily="34" charset="0"/>
              </a:rPr>
              <a:t>TinyFedTL</a:t>
            </a:r>
            <a:r>
              <a:rPr lang="en-US" altLang="en-US" sz="1400" dirty="0">
                <a:latin typeface="Arial" panose="020B0604020202020204" pitchFamily="34" charset="0"/>
              </a:rPr>
              <a:t> paper noted that transmitting just 514 float parameters (the weights and biases) byte-by-byte over a serial port took an Arduino over 30 seconds in each direction.</a:t>
            </a:r>
          </a:p>
          <a:p>
            <a:pPr eaLnBrk="0" fontAlgn="base" hangingPunct="0">
              <a:lnSpc>
                <a:spcPct val="100000"/>
              </a:lnSpc>
              <a:spcBef>
                <a:spcPct val="0"/>
              </a:spcBef>
              <a:spcAft>
                <a:spcPct val="0"/>
              </a:spcAft>
            </a:pPr>
            <a:r>
              <a:rPr lang="en-US" altLang="en-US" sz="1400" b="1" dirty="0">
                <a:latin typeface="Arial" panose="020B0604020202020204" pitchFamily="34" charset="0"/>
              </a:rPr>
              <a:t>Optimization Strategies:</a:t>
            </a:r>
            <a:r>
              <a:rPr lang="en-US" altLang="en-US" sz="1400" dirty="0">
                <a:latin typeface="Arial" panose="020B0604020202020204" pitchFamily="34" charset="0"/>
              </a:rPr>
              <a:t> To reduce this massive overhead, standard FL frameworks utilize </a:t>
            </a:r>
            <a:r>
              <a:rPr lang="en-US" altLang="en-US" sz="1400" b="1" dirty="0">
                <a:latin typeface="Arial" panose="020B0604020202020204" pitchFamily="34" charset="0"/>
              </a:rPr>
              <a:t>Quantization</a:t>
            </a:r>
            <a:r>
              <a:rPr lang="en-US" altLang="en-US" sz="1400" dirty="0">
                <a:latin typeface="Arial" panose="020B0604020202020204" pitchFamily="34" charset="0"/>
              </a:rPr>
              <a:t> (reducing the precision of the numbers from 32-bit floats to 8-bit integers) and </a:t>
            </a:r>
            <a:r>
              <a:rPr lang="en-US" altLang="en-US" sz="1400" b="1" dirty="0" err="1">
                <a:latin typeface="Arial" panose="020B0604020202020204" pitchFamily="34" charset="0"/>
              </a:rPr>
              <a:t>Sparsification</a:t>
            </a:r>
            <a:r>
              <a:rPr lang="en-US" altLang="en-US" sz="1400" dirty="0">
                <a:latin typeface="Arial" panose="020B0604020202020204" pitchFamily="34" charset="0"/>
              </a:rPr>
              <a:t> (only sending weights that significantly changed).</a:t>
            </a:r>
          </a:p>
          <a:p>
            <a:pPr eaLnBrk="0" fontAlgn="base" hangingPunct="0">
              <a:lnSpc>
                <a:spcPct val="100000"/>
              </a:lnSpc>
              <a:spcBef>
                <a:spcPct val="0"/>
              </a:spcBef>
              <a:spcAft>
                <a:spcPct val="0"/>
              </a:spcAft>
            </a:pPr>
            <a:r>
              <a:rPr lang="en-US" altLang="en-US" sz="1400" b="1" dirty="0">
                <a:latin typeface="Arial" panose="020B0604020202020204" pitchFamily="34" charset="0"/>
              </a:rPr>
              <a:t>Partial Communication:</a:t>
            </a:r>
            <a:r>
              <a:rPr lang="en-US" altLang="en-US" sz="1400" dirty="0">
                <a:latin typeface="Arial" panose="020B0604020202020204" pitchFamily="34" charset="0"/>
              </a:rPr>
              <a:t> Another major bandwidth solution is to only communicate specific layers of the network. This is exactly why the </a:t>
            </a:r>
            <a:r>
              <a:rPr lang="en-US" altLang="en-US" sz="1400" dirty="0" err="1">
                <a:latin typeface="Arial" panose="020B0604020202020204" pitchFamily="34" charset="0"/>
              </a:rPr>
              <a:t>TinyFedTL</a:t>
            </a:r>
            <a:r>
              <a:rPr lang="en-US" altLang="en-US" sz="1400" dirty="0">
                <a:latin typeface="Arial" panose="020B0604020202020204" pitchFamily="34" charset="0"/>
              </a:rPr>
              <a:t> architecture froze the large, pre-trained Convolutional Neural Network and only transmitted the updates for the final, lightweight dense layer.</a:t>
            </a:r>
          </a:p>
        </p:txBody>
      </p:sp>
      <p:sp>
        <p:nvSpPr>
          <p:cNvPr id="7" name="Rectangle 2">
            <a:extLst>
              <a:ext uri="{FF2B5EF4-FFF2-40B4-BE49-F238E27FC236}">
                <a16:creationId xmlns:a16="http://schemas.microsoft.com/office/drawing/2014/main" id="{7F89B56B-FCB4-4F55-8F24-C27CBC7F2D78}"/>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D9DE12E1-71B3-4FF3-8D80-DB0615AB9E02}"/>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3">
            <a:extLst>
              <a:ext uri="{FF2B5EF4-FFF2-40B4-BE49-F238E27FC236}">
                <a16:creationId xmlns:a16="http://schemas.microsoft.com/office/drawing/2014/main" id="{CCCD09B0-DF6F-47F7-B00F-27127C507734}"/>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043660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ED8C-F329-4164-9D03-BD0593F44361}"/>
              </a:ext>
            </a:extLst>
          </p:cNvPr>
          <p:cNvSpPr>
            <a:spLocks noGrp="1"/>
          </p:cNvSpPr>
          <p:nvPr>
            <p:ph type="title"/>
          </p:nvPr>
        </p:nvSpPr>
        <p:spPr>
          <a:xfrm>
            <a:off x="789432" y="0"/>
            <a:ext cx="10515600" cy="1325563"/>
          </a:xfrm>
        </p:spPr>
        <p:txBody>
          <a:bodyPr>
            <a:normAutofit/>
          </a:bodyPr>
          <a:lstStyle/>
          <a:p>
            <a:r>
              <a:rPr lang="en-US" dirty="0"/>
              <a:t>Crash course extra knowledge </a:t>
            </a:r>
          </a:p>
        </p:txBody>
      </p:sp>
      <p:sp>
        <p:nvSpPr>
          <p:cNvPr id="3" name="Rectangle 1">
            <a:extLst>
              <a:ext uri="{FF2B5EF4-FFF2-40B4-BE49-F238E27FC236}">
                <a16:creationId xmlns:a16="http://schemas.microsoft.com/office/drawing/2014/main" id="{5A610450-59C3-4634-AD6E-116C08FBE0E9}"/>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1">
            <a:extLst>
              <a:ext uri="{FF2B5EF4-FFF2-40B4-BE49-F238E27FC236}">
                <a16:creationId xmlns:a16="http://schemas.microsoft.com/office/drawing/2014/main" id="{B3D39264-1942-4084-A829-77D02A44794B}"/>
              </a:ext>
            </a:extLst>
          </p:cNvPr>
          <p:cNvSpPr>
            <a:spLocks noChangeArrowheads="1"/>
          </p:cNvSpPr>
          <p:nvPr/>
        </p:nvSpPr>
        <p:spPr bwMode="auto">
          <a:xfrm>
            <a:off x="0" y="-161582"/>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F42B3BD0-F045-44CC-B55C-FD84FBE3EED1}"/>
              </a:ext>
            </a:extLst>
          </p:cNvPr>
          <p:cNvSpPr>
            <a:spLocks noChangeArrowheads="1"/>
          </p:cNvSpPr>
          <p:nvPr/>
        </p:nvSpPr>
        <p:spPr bwMode="auto">
          <a:xfrm>
            <a:off x="0" y="67017"/>
            <a:ext cx="184731"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0CFE2D20-F588-42D9-939F-014E5367703B}"/>
              </a:ext>
            </a:extLst>
          </p:cNvPr>
          <p:cNvSpPr>
            <a:spLocks noGrp="1" noChangeArrowheads="1"/>
          </p:cNvSpPr>
          <p:nvPr>
            <p:ph idx="1"/>
          </p:nvPr>
        </p:nvSpPr>
        <p:spPr bwMode="auto">
          <a:xfrm>
            <a:off x="789432" y="1227528"/>
            <a:ext cx="10977282" cy="53050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1400" b="1" dirty="0"/>
              <a:t> Tuning Hyperparameters</a:t>
            </a:r>
          </a:p>
          <a:p>
            <a:pPr lvl="1"/>
            <a:r>
              <a:rPr lang="en-US" sz="1400" dirty="0"/>
              <a:t>Tuning a federated network is vastly from tuning a centralized model because the network itself is a variable.</a:t>
            </a:r>
          </a:p>
          <a:p>
            <a:pPr lvl="1"/>
            <a:r>
              <a:rPr lang="en-US" sz="1400" b="1" dirty="0"/>
              <a:t>Balancing the Workload:</a:t>
            </a:r>
            <a:r>
              <a:rPr lang="en-US" sz="1400" dirty="0"/>
              <a:t> The key parameters to tune are the fraction of participating clients per round, the number of local epochs, and the local batch size.</a:t>
            </a:r>
          </a:p>
          <a:p>
            <a:pPr marL="0" lvl="0" indent="0" eaLnBrk="0" fontAlgn="base" hangingPunct="0">
              <a:lnSpc>
                <a:spcPct val="100000"/>
              </a:lnSpc>
              <a:spcBef>
                <a:spcPct val="0"/>
              </a:spcBef>
              <a:spcAft>
                <a:spcPct val="0"/>
              </a:spcAft>
              <a:buNone/>
            </a:pPr>
            <a:r>
              <a:rPr lang="en-US" altLang="en-US" sz="1400" b="1" dirty="0">
                <a:latin typeface="Arial" panose="020B0604020202020204" pitchFamily="34" charset="0"/>
              </a:rPr>
              <a:t>Federated Learning alone does not guarantee absolute privacy.</a:t>
            </a:r>
            <a:r>
              <a:rPr lang="en-US" altLang="en-US" sz="1400" dirty="0">
                <a:latin typeface="Arial" panose="020B0604020202020204" pitchFamily="34" charset="0"/>
              </a:rPr>
              <a:t> While it acts as a strong data minimization technique by keeping raw data local, the model weights themselves can still leak sensitive information through "model inversion" attacks.</a:t>
            </a:r>
          </a:p>
          <a:p>
            <a:pPr marL="0" lvl="0" indent="0" eaLnBrk="0" fontAlgn="base" hangingPunct="0">
              <a:lnSpc>
                <a:spcPct val="100000"/>
              </a:lnSpc>
              <a:spcBef>
                <a:spcPct val="0"/>
              </a:spcBef>
              <a:spcAft>
                <a:spcPct val="0"/>
              </a:spcAft>
              <a:buFontTx/>
              <a:buChar char="•"/>
            </a:pPr>
            <a:r>
              <a:rPr lang="en-US" altLang="en-US" sz="1400" b="1" dirty="0">
                <a:latin typeface="Arial" panose="020B0604020202020204" pitchFamily="34" charset="0"/>
              </a:rPr>
              <a:t>Differential Privacy (DP):</a:t>
            </a:r>
            <a:r>
              <a:rPr lang="en-US" altLang="en-US" sz="1400" dirty="0">
                <a:latin typeface="Arial" panose="020B0604020202020204" pitchFamily="34" charset="0"/>
              </a:rPr>
              <a:t> FL must be combined with Differential Privacy, which protects individual data points using a dual approach:</a:t>
            </a:r>
          </a:p>
          <a:p>
            <a:pPr lvl="1" eaLnBrk="0" fontAlgn="base" hangingPunct="0">
              <a:lnSpc>
                <a:spcPct val="100000"/>
              </a:lnSpc>
              <a:spcBef>
                <a:spcPct val="0"/>
              </a:spcBef>
              <a:spcAft>
                <a:spcPct val="0"/>
              </a:spcAft>
            </a:pPr>
            <a:r>
              <a:rPr lang="en-US" altLang="en-US" sz="1400" b="1" dirty="0">
                <a:latin typeface="Arial" panose="020B0604020202020204" pitchFamily="34" charset="0"/>
              </a:rPr>
              <a:t>Clipping:</a:t>
            </a:r>
            <a:r>
              <a:rPr lang="en-US" altLang="en-US" sz="1400" dirty="0">
                <a:latin typeface="Arial" panose="020B0604020202020204" pitchFamily="34" charset="0"/>
              </a:rPr>
              <a:t> Bounding the sensitivity of the model updates to mitigate the impact of outliers (ensuring one user's unique data doesn't drastically swing the weights).</a:t>
            </a:r>
          </a:p>
          <a:p>
            <a:pPr lvl="1" eaLnBrk="0" fontAlgn="base" hangingPunct="0">
              <a:lnSpc>
                <a:spcPct val="100000"/>
              </a:lnSpc>
              <a:spcBef>
                <a:spcPct val="0"/>
              </a:spcBef>
              <a:spcAft>
                <a:spcPct val="0"/>
              </a:spcAft>
            </a:pPr>
            <a:r>
              <a:rPr lang="en-US" altLang="en-US" sz="1400" b="1" dirty="0">
                <a:latin typeface="Arial" panose="020B0604020202020204" pitchFamily="34" charset="0"/>
              </a:rPr>
              <a:t>Noising:</a:t>
            </a:r>
            <a:r>
              <a:rPr lang="en-US" altLang="en-US" sz="1400" dirty="0">
                <a:latin typeface="Arial" panose="020B0604020202020204" pitchFamily="34" charset="0"/>
              </a:rPr>
              <a:t> Adding calibrated mathematical noise to the model to obscure individual contributions.</a:t>
            </a:r>
          </a:p>
          <a:p>
            <a:pPr marL="0" lvl="0" indent="0" eaLnBrk="0" fontAlgn="base" hangingPunct="0">
              <a:lnSpc>
                <a:spcPct val="100000"/>
              </a:lnSpc>
              <a:spcBef>
                <a:spcPct val="0"/>
              </a:spcBef>
              <a:spcAft>
                <a:spcPct val="0"/>
              </a:spcAft>
              <a:buFontTx/>
              <a:buChar char="•"/>
            </a:pPr>
            <a:r>
              <a:rPr lang="en-US" altLang="en-US" sz="1400" b="1" dirty="0">
                <a:latin typeface="Arial" panose="020B0604020202020204" pitchFamily="34" charset="0"/>
              </a:rPr>
              <a:t>Central vs. Local DP:</a:t>
            </a:r>
            <a:r>
              <a:rPr lang="en-US" altLang="en-US" sz="1400" dirty="0">
                <a:latin typeface="Arial" panose="020B0604020202020204" pitchFamily="34" charset="0"/>
              </a:rPr>
              <a:t> In </a:t>
            </a:r>
            <a:r>
              <a:rPr lang="en-US" altLang="en-US" sz="1400" i="1" dirty="0">
                <a:latin typeface="Arial" panose="020B0604020202020204" pitchFamily="34" charset="0"/>
              </a:rPr>
              <a:t>Central DP</a:t>
            </a:r>
            <a:r>
              <a:rPr lang="en-US" altLang="en-US" sz="1400" dirty="0">
                <a:latin typeface="Arial" panose="020B0604020202020204" pitchFamily="34" charset="0"/>
              </a:rPr>
              <a:t>, the server adds the noise after aggregation. In </a:t>
            </a:r>
            <a:r>
              <a:rPr lang="en-US" altLang="en-US" sz="1400" i="1" dirty="0">
                <a:latin typeface="Arial" panose="020B0604020202020204" pitchFamily="34" charset="0"/>
              </a:rPr>
              <a:t>Local DP</a:t>
            </a:r>
            <a:r>
              <a:rPr lang="en-US" altLang="en-US" sz="1400" dirty="0">
                <a:latin typeface="Arial" panose="020B0604020202020204" pitchFamily="34" charset="0"/>
              </a:rPr>
              <a:t>, the client adds noise </a:t>
            </a:r>
            <a:r>
              <a:rPr lang="en-US" altLang="en-US" sz="1400" i="1" dirty="0">
                <a:latin typeface="Arial" panose="020B0604020202020204" pitchFamily="34" charset="0"/>
              </a:rPr>
              <a:t>before</a:t>
            </a:r>
            <a:r>
              <a:rPr lang="en-US" altLang="en-US" sz="1400" dirty="0">
                <a:latin typeface="Arial" panose="020B0604020202020204" pitchFamily="34" charset="0"/>
              </a:rPr>
              <a:t> uploading its weights. For constrained IoT sensors, enforcing Local DP introduces computational overhead that must be carefully managed.</a:t>
            </a:r>
          </a:p>
          <a:p>
            <a:pPr marL="0" lvl="0" indent="0" eaLnBrk="0" fontAlgn="base" hangingPunct="0">
              <a:lnSpc>
                <a:spcPct val="100000"/>
              </a:lnSpc>
              <a:spcBef>
                <a:spcPct val="0"/>
              </a:spcBef>
              <a:spcAft>
                <a:spcPct val="0"/>
              </a:spcAft>
              <a:buNone/>
            </a:pPr>
            <a:endParaRPr lang="en-US" altLang="en-US" sz="1400" b="1" dirty="0">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sz="1400" b="1" dirty="0">
                <a:latin typeface="Arial" panose="020B0604020202020204" pitchFamily="34" charset="0"/>
              </a:rPr>
              <a:t>Bandwidth Management</a:t>
            </a:r>
          </a:p>
          <a:p>
            <a:pPr marL="0" lvl="0" indent="0" eaLnBrk="0" fontAlgn="base" hangingPunct="0">
              <a:lnSpc>
                <a:spcPct val="100000"/>
              </a:lnSpc>
              <a:spcBef>
                <a:spcPct val="0"/>
              </a:spcBef>
              <a:spcAft>
                <a:spcPct val="0"/>
              </a:spcAft>
              <a:buNone/>
            </a:pPr>
            <a:r>
              <a:rPr lang="en-US" altLang="en-US" sz="1400" dirty="0">
                <a:latin typeface="Arial" panose="020B0604020202020204" pitchFamily="34" charset="0"/>
              </a:rPr>
              <a:t>Bandwidth is the ultimate bottleneck in federated systems. The course introduces a concrete way to calculate the exact bandwidth cost of a network:</a:t>
            </a:r>
          </a:p>
          <a:p>
            <a:pPr marL="0" lvl="0" indent="0" eaLnBrk="0" fontAlgn="base" hangingPunct="0">
              <a:lnSpc>
                <a:spcPct val="100000"/>
              </a:lnSpc>
              <a:spcBef>
                <a:spcPct val="0"/>
              </a:spcBef>
              <a:spcAft>
                <a:spcPct val="0"/>
              </a:spcAft>
              <a:buNone/>
            </a:pPr>
            <a:r>
              <a:rPr lang="en-US" altLang="en-US" sz="1400" dirty="0">
                <a:latin typeface="Arial Unicode MS"/>
              </a:rPr>
              <a:t>Model Size (MB) × Number of Selected Clients × 2 (Upload + Download) × Number of Rounds = Total Bandwidth</a:t>
            </a:r>
            <a:endParaRPr lang="en-US" altLang="en-US" sz="1400" dirty="0"/>
          </a:p>
          <a:p>
            <a:pPr eaLnBrk="0" fontAlgn="base" hangingPunct="0">
              <a:lnSpc>
                <a:spcPct val="100000"/>
              </a:lnSpc>
              <a:spcBef>
                <a:spcPct val="0"/>
              </a:spcBef>
              <a:spcAft>
                <a:spcPct val="0"/>
              </a:spcAft>
            </a:pPr>
            <a:r>
              <a:rPr lang="en-US" altLang="en-US" sz="1400" b="1" dirty="0">
                <a:latin typeface="Arial" panose="020B0604020202020204" pitchFamily="34" charset="0"/>
              </a:rPr>
              <a:t>The Edge Bottleneck:</a:t>
            </a:r>
            <a:r>
              <a:rPr lang="en-US" altLang="en-US" sz="1400" dirty="0">
                <a:latin typeface="Arial" panose="020B0604020202020204" pitchFamily="34" charset="0"/>
              </a:rPr>
              <a:t> To put this in perspective, the </a:t>
            </a:r>
            <a:r>
              <a:rPr lang="en-US" altLang="en-US" sz="1400" dirty="0" err="1">
                <a:latin typeface="Arial" panose="020B0604020202020204" pitchFamily="34" charset="0"/>
              </a:rPr>
              <a:t>TinyFedTL</a:t>
            </a:r>
            <a:r>
              <a:rPr lang="en-US" altLang="en-US" sz="1400" dirty="0">
                <a:latin typeface="Arial" panose="020B0604020202020204" pitchFamily="34" charset="0"/>
              </a:rPr>
              <a:t> paper noted that transmitting just 514 float parameters (the weights and biases) byte-by-byte over a serial port took an Arduino over 30 seconds in each direction.</a:t>
            </a:r>
          </a:p>
          <a:p>
            <a:pPr eaLnBrk="0" fontAlgn="base" hangingPunct="0">
              <a:lnSpc>
                <a:spcPct val="100000"/>
              </a:lnSpc>
              <a:spcBef>
                <a:spcPct val="0"/>
              </a:spcBef>
              <a:spcAft>
                <a:spcPct val="0"/>
              </a:spcAft>
            </a:pPr>
            <a:r>
              <a:rPr lang="en-US" altLang="en-US" sz="1400" b="1" dirty="0">
                <a:latin typeface="Arial" panose="020B0604020202020204" pitchFamily="34" charset="0"/>
              </a:rPr>
              <a:t>Optimization Strategies:</a:t>
            </a:r>
            <a:r>
              <a:rPr lang="en-US" altLang="en-US" sz="1400" dirty="0">
                <a:latin typeface="Arial" panose="020B0604020202020204" pitchFamily="34" charset="0"/>
              </a:rPr>
              <a:t> To reduce this massive overhead, standard FL frameworks utilize </a:t>
            </a:r>
            <a:r>
              <a:rPr lang="en-US" altLang="en-US" sz="1400" b="1" dirty="0">
                <a:latin typeface="Arial" panose="020B0604020202020204" pitchFamily="34" charset="0"/>
              </a:rPr>
              <a:t>Quantization</a:t>
            </a:r>
            <a:r>
              <a:rPr lang="en-US" altLang="en-US" sz="1400" dirty="0">
                <a:latin typeface="Arial" panose="020B0604020202020204" pitchFamily="34" charset="0"/>
              </a:rPr>
              <a:t> (reducing the precision of the numbers from 32-bit floats to 8-bit integers) and </a:t>
            </a:r>
            <a:r>
              <a:rPr lang="en-US" altLang="en-US" sz="1400" b="1" dirty="0" err="1">
                <a:latin typeface="Arial" panose="020B0604020202020204" pitchFamily="34" charset="0"/>
              </a:rPr>
              <a:t>Sparsification</a:t>
            </a:r>
            <a:r>
              <a:rPr lang="en-US" altLang="en-US" sz="1400" dirty="0">
                <a:latin typeface="Arial" panose="020B0604020202020204" pitchFamily="34" charset="0"/>
              </a:rPr>
              <a:t> (only sending weights that significantly changed).</a:t>
            </a:r>
          </a:p>
          <a:p>
            <a:pPr eaLnBrk="0" fontAlgn="base" hangingPunct="0">
              <a:lnSpc>
                <a:spcPct val="100000"/>
              </a:lnSpc>
              <a:spcBef>
                <a:spcPct val="0"/>
              </a:spcBef>
              <a:spcAft>
                <a:spcPct val="0"/>
              </a:spcAft>
            </a:pPr>
            <a:r>
              <a:rPr lang="en-US" altLang="en-US" sz="1400" b="1" dirty="0">
                <a:latin typeface="Arial" panose="020B0604020202020204" pitchFamily="34" charset="0"/>
              </a:rPr>
              <a:t>Partial Communication:</a:t>
            </a:r>
            <a:r>
              <a:rPr lang="en-US" altLang="en-US" sz="1400" dirty="0">
                <a:latin typeface="Arial" panose="020B0604020202020204" pitchFamily="34" charset="0"/>
              </a:rPr>
              <a:t> Another major bandwidth solution is to only communicate specific layers of the network. This is exactly why the </a:t>
            </a:r>
            <a:r>
              <a:rPr lang="en-US" altLang="en-US" sz="1400" dirty="0" err="1">
                <a:latin typeface="Arial" panose="020B0604020202020204" pitchFamily="34" charset="0"/>
              </a:rPr>
              <a:t>TinyFedTL</a:t>
            </a:r>
            <a:r>
              <a:rPr lang="en-US" altLang="en-US" sz="1400" dirty="0">
                <a:latin typeface="Arial" panose="020B0604020202020204" pitchFamily="34" charset="0"/>
              </a:rPr>
              <a:t> architecture froze the large, pre-trained Convolutional Neural Network and only transmitted the updates for the final, lightweight dense layer.</a:t>
            </a:r>
          </a:p>
        </p:txBody>
      </p:sp>
      <p:sp>
        <p:nvSpPr>
          <p:cNvPr id="7" name="Rectangle 2">
            <a:extLst>
              <a:ext uri="{FF2B5EF4-FFF2-40B4-BE49-F238E27FC236}">
                <a16:creationId xmlns:a16="http://schemas.microsoft.com/office/drawing/2014/main" id="{7F89B56B-FCB4-4F55-8F24-C27CBC7F2D78}"/>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D9DE12E1-71B3-4FF3-8D80-DB0615AB9E02}"/>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3">
            <a:extLst>
              <a:ext uri="{FF2B5EF4-FFF2-40B4-BE49-F238E27FC236}">
                <a16:creationId xmlns:a16="http://schemas.microsoft.com/office/drawing/2014/main" id="{CCCD09B0-DF6F-47F7-B00F-27127C507734}"/>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36427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173</TotalTime>
  <Words>3547</Words>
  <Application>Microsoft Office PowerPoint</Application>
  <PresentationFormat>Widescreen</PresentationFormat>
  <Paragraphs>190</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Arial Unicode MS</vt:lpstr>
      <vt:lpstr>Calibri</vt:lpstr>
      <vt:lpstr>Calibri Light</vt:lpstr>
      <vt:lpstr>Google Sans</vt:lpstr>
      <vt:lpstr>Google Sans Text</vt:lpstr>
      <vt:lpstr>Office Theme</vt:lpstr>
      <vt:lpstr>Federated leraning</vt:lpstr>
      <vt:lpstr>Paper 1 Communication-Efficient Learning of Deep Networks from Decentralized Data (fedavg)</vt:lpstr>
      <vt:lpstr>Paper 1 Communication-Efficient Learning of Deep Networks from Decentralized Data (fedavg)</vt:lpstr>
      <vt:lpstr>Paper 1 Communication-Efficient Learning of Deep Networks from Decentralized Data (fedavg)</vt:lpstr>
      <vt:lpstr>Paper2 FEDERATED OPTIMIZATION IN HETEROGENEOUS NETWORKS (fedprox)</vt:lpstr>
      <vt:lpstr>Paper2 FEDERATED OPTIMIZATION IN HETEROGENEOUS NETWORKS (fedprox)</vt:lpstr>
      <vt:lpstr>Paper2 FEDERATED OPTIMIZATION IN HETEROGENEOUS NETWORKS (fedprox)</vt:lpstr>
      <vt:lpstr>Paper3 Tiny Federated Learning for Constrained Sensors: A Systematic Literature Review</vt:lpstr>
      <vt:lpstr>Paper4 TINYFEDTL: FEDERATED TRANSFER LEARNING ON TINY DEVICES</vt:lpstr>
      <vt:lpstr>Paper4 TINYFEDTL: FEDERATED TRANSFER LEARNING ON TINY DEVICES</vt:lpstr>
      <vt:lpstr>Paper4 TINYFEDTL: FEDERATED TRANSFER LEARNING ON TINY DEVICES</vt:lpstr>
      <vt:lpstr>Paper4 TINYFEDTL: FEDERATED TRANSFER LEARNING ON TINY DEVICES</vt:lpstr>
      <vt:lpstr>Paper4 TINYFEDTL: FEDERATED TRANSFER LEARNING ON TINY DEVICES</vt:lpstr>
      <vt:lpstr>Paper5 Federated learning for IoT devices: Enhancing TinyML with on-board training </vt:lpstr>
      <vt:lpstr>Paper5 Federated learning for IoT devices: Enhancing TinyML with on-board training </vt:lpstr>
      <vt:lpstr>Paper5 Federated learning for IoT devices: Enhancing TinyML with on-board training </vt:lpstr>
      <vt:lpstr>Paper5 Federated learning for IoT devices: Enhancing TinyML with on-board training </vt:lpstr>
      <vt:lpstr>Paper7 Lightweight Federated Learning Approach for Resource-Constrained Internet of Things</vt:lpstr>
      <vt:lpstr>Paper9 : TinyReptile</vt:lpstr>
      <vt:lpstr>Paper8 : TinyReptile</vt:lpstr>
      <vt:lpstr>Paper8 : TinyMetaFed</vt:lpstr>
      <vt:lpstr>Paper8 and 9 </vt:lpstr>
      <vt:lpstr>Crash course extra knowledge </vt:lpstr>
      <vt:lpstr>Crash course extra knowledge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Federated leraning</dc:title>
  <dc:creator>Abdelrahman Mohammed Darwish</dc:creator>
  <cp:lastModifiedBy>Abdelrahman Mohammed Darwish</cp:lastModifiedBy>
  <cp:revision>12</cp:revision>
  <dcterms:created xsi:type="dcterms:W3CDTF">2026-02-17T07:52:21Z</dcterms:created>
  <dcterms:modified xsi:type="dcterms:W3CDTF">2026-02-24T10:31:36Z</dcterms:modified>
</cp:coreProperties>
</file>